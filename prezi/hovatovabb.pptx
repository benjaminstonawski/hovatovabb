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59" r:id="rId6"/>
    <p:sldId id="260" r:id="rId7"/>
    <p:sldId id="264" r:id="rId8"/>
    <p:sldId id="261" r:id="rId9"/>
    <p:sldId id="262" r:id="rId10"/>
    <p:sldId id="268" r:id="rId11"/>
    <p:sldId id="265" r:id="rId12"/>
    <p:sldId id="266" r:id="rId13"/>
    <p:sldId id="263" r:id="rId14"/>
    <p:sldId id="267" r:id="rId15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Montserrat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246" y="1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97e70fc58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0" name="Google Shape;140;g3b97e70fc58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Benji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1FBEC3A-425B-7BB5-F2F6-6672BEAB3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97e70fc58_0_127:notes">
            <a:extLst>
              <a:ext uri="{FF2B5EF4-FFF2-40B4-BE49-F238E27FC236}">
                <a16:creationId xmlns:a16="http://schemas.microsoft.com/office/drawing/2014/main" id="{F70C6EC3-787C-CAB6-2359-B449088DD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0" name="Google Shape;140;g3b97e70fc58_0_127:notes">
            <a:extLst>
              <a:ext uri="{FF2B5EF4-FFF2-40B4-BE49-F238E27FC236}">
                <a16:creationId xmlns:a16="http://schemas.microsoft.com/office/drawing/2014/main" id="{BF7C2DEA-8379-DC07-AC64-C933E5BA2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Benji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0814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97e70fc58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6" name="Google Shape;146;g3b97e70fc58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Benji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97e70fc5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2" name="Google Shape;152;g3b97e70fc5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Levi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97e70fc5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8" name="Google Shape;158;g3b97e70fc58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Levi: </a:t>
            </a:r>
            <a:r>
              <a:rPr lang="en-US" dirty="0" err="1"/>
              <a:t>alapf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Benji: </a:t>
            </a:r>
            <a:r>
              <a:rPr lang="en-US" dirty="0" err="1"/>
              <a:t>egyedi</a:t>
            </a:r>
            <a:r>
              <a:rPr lang="en-US" dirty="0"/>
              <a:t> f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9838a5c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1" name="Google Shape;191;g3b9838a5c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Levi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97e70fc58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5" name="Google Shape;165;g3b97e70fc58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Benji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97e70fc58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4" name="Google Shape;174;g3b97e70fc58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Levi: Frontend</a:t>
            </a:r>
            <a:br>
              <a:rPr lang="en-US" dirty="0"/>
            </a:br>
            <a:r>
              <a:rPr lang="en-US" dirty="0"/>
              <a:t>Benji: Backend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E591868E-067D-9535-9D4D-6E51CC165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97e70fc58_0_179:notes">
            <a:extLst>
              <a:ext uri="{FF2B5EF4-FFF2-40B4-BE49-F238E27FC236}">
                <a16:creationId xmlns:a16="http://schemas.microsoft.com/office/drawing/2014/main" id="{DBCC41A6-6DA0-7355-3208-15334EB6D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4" name="Google Shape;174;g3b97e70fc58_0_179:notes">
            <a:extLst>
              <a:ext uri="{FF2B5EF4-FFF2-40B4-BE49-F238E27FC236}">
                <a16:creationId xmlns:a16="http://schemas.microsoft.com/office/drawing/2014/main" id="{246E8232-6CDF-725C-539D-C913575C3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Benji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4712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9838a5c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7" name="Google Shape;197;g3b9838a5c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Levi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9838a5c1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4" name="Google Shape;204;g3b9838a5c1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97e70fc58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5" name="Google Shape;185;g3b97e70fc58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Benji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9838a5c1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0" name="Google Shape;210;g3b9838a5c16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noProof="0" dirty="0" err="1"/>
              <a:t>HovaTovább</a:t>
            </a:r>
            <a:endParaRPr lang="hu-HU" noProof="0"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7806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u="sng" noProof="0" dirty="0"/>
              <a:t>Készítette: Deák Levente és Stonawski Benjamin</a:t>
            </a:r>
          </a:p>
        </p:txBody>
      </p:sp>
      <p:sp>
        <p:nvSpPr>
          <p:cNvPr id="136" name="Google Shape;136;p13"/>
          <p:cNvSpPr txBox="1"/>
          <p:nvPr/>
        </p:nvSpPr>
        <p:spPr>
          <a:xfrm>
            <a:off x="3645900" y="2318700"/>
            <a:ext cx="35232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i="1" noProof="0" dirty="0">
                <a:solidFill>
                  <a:srgbClr val="F0F6FC"/>
                </a:solidFill>
              </a:rPr>
              <a:t>Magyar tömegközlekedési menetrendtervező</a:t>
            </a:r>
            <a:endParaRPr lang="hu-HU" sz="1300" i="1" noProof="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9100" y="1673050"/>
            <a:ext cx="748475" cy="7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hu-HU" sz="243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Miről szól az alkalmazás?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lang="hu-HU" sz="3060" b="1" noProof="0" dirty="0"/>
          </a:p>
        </p:txBody>
      </p:sp>
      <p:sp>
        <p:nvSpPr>
          <p:cNvPr id="143" name="Google Shape;143;p14"/>
          <p:cNvSpPr txBox="1">
            <a:spLocks noGrp="1"/>
          </p:cNvSpPr>
          <p:nvPr>
            <p:ph type="body" idx="1"/>
          </p:nvPr>
        </p:nvSpPr>
        <p:spPr>
          <a:xfrm>
            <a:off x="1254000" y="14967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1200" noProof="0" dirty="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hu-HU" sz="1200" noProof="0" dirty="0" err="1">
                <a:latin typeface="Arial"/>
                <a:ea typeface="Arial"/>
                <a:cs typeface="Arial"/>
                <a:sym typeface="Arial"/>
              </a:rPr>
              <a:t>HovaTovább</a:t>
            </a:r>
            <a:r>
              <a:rPr lang="hu-HU" sz="1200" noProof="0" dirty="0">
                <a:latin typeface="Arial"/>
                <a:ea typeface="Arial"/>
                <a:cs typeface="Arial"/>
                <a:sym typeface="Arial"/>
              </a:rPr>
              <a:t> egy modern menetrendtervező alkalmazás, amelynek célja, hogy a magyarországi tömegközlekedés használatát gyorsabbá, átláthatóbbá és </a:t>
            </a:r>
            <a:r>
              <a:rPr lang="hu-HU" sz="1200" noProof="0" dirty="0" err="1">
                <a:latin typeface="Arial"/>
                <a:ea typeface="Arial"/>
                <a:cs typeface="Arial"/>
                <a:sym typeface="Arial"/>
              </a:rPr>
              <a:t>felhasználóbarátabbá</a:t>
            </a:r>
            <a:r>
              <a:rPr lang="hu-HU" sz="1200" noProof="0" dirty="0">
                <a:latin typeface="Arial"/>
                <a:ea typeface="Arial"/>
                <a:cs typeface="Arial"/>
                <a:sym typeface="Arial"/>
              </a:rPr>
              <a:t> tegye. Az alkalmazás egy helyen teszi elérhetővé a különböző közlekedési eszközök menetrendjeit, így megkönnyíti a mindennapi utazások megtervezését.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1200" noProof="0" dirty="0">
                <a:latin typeface="Arial"/>
                <a:ea typeface="Arial"/>
                <a:cs typeface="Arial"/>
                <a:sym typeface="Arial"/>
              </a:rPr>
              <a:t>Az app automatikus útvonaltervezést kínál, amely figyelembe veszi az indulási és érkezési helyet, valamint a lehető legoptimálisabb útvonalakat. Emellett lehetőséget biztosít manuális menetrend-összeállításra is, így a felhasználók saját igényeik szerint alakíthatják az utazásukat.</a:t>
            </a: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lang="hu-HU" sz="1400" noProof="0" dirty="0"/>
          </a:p>
        </p:txBody>
      </p:sp>
      <p:pic>
        <p:nvPicPr>
          <p:cNvPr id="2" name="Google Shape;137;p13">
            <a:extLst>
              <a:ext uri="{FF2B5EF4-FFF2-40B4-BE49-F238E27FC236}">
                <a16:creationId xmlns:a16="http://schemas.microsoft.com/office/drawing/2014/main" id="{82B1DD43-809D-1BE0-A098-200506FA95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7762" y="4001275"/>
            <a:ext cx="748475" cy="7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44F4225-DE33-ED49-EE34-11CB6072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>
            <a:extLst>
              <a:ext uri="{FF2B5EF4-FFF2-40B4-BE49-F238E27FC236}">
                <a16:creationId xmlns:a16="http://schemas.microsoft.com/office/drawing/2014/main" id="{6652CD01-6465-03ED-D32D-D1940910EB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en-US" sz="2430" b="1" noProof="0" dirty="0" err="1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Miért</a:t>
            </a:r>
            <a:r>
              <a:rPr lang="en-US" sz="243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30" b="1" noProof="0" dirty="0" err="1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ezt</a:t>
            </a:r>
            <a:r>
              <a:rPr lang="en-US" sz="243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430" b="1" noProof="0" dirty="0" err="1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témakört</a:t>
            </a:r>
            <a:r>
              <a:rPr lang="en-US" sz="243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30" b="1" noProof="0" dirty="0" err="1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választottuk</a:t>
            </a:r>
            <a:r>
              <a:rPr lang="en-US" sz="243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lang="hu-HU" sz="3060" b="1" noProof="0" dirty="0"/>
          </a:p>
        </p:txBody>
      </p:sp>
      <p:sp>
        <p:nvSpPr>
          <p:cNvPr id="143" name="Google Shape;143;p14">
            <a:extLst>
              <a:ext uri="{FF2B5EF4-FFF2-40B4-BE49-F238E27FC236}">
                <a16:creationId xmlns:a16="http://schemas.microsoft.com/office/drawing/2014/main" id="{0627BAA9-CBFC-0D63-2CA9-8A7334D2B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54000" y="14967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71450" indent="-171450" algn="just">
              <a:spcBef>
                <a:spcPts val="1200"/>
              </a:spcBef>
            </a:pPr>
            <a:r>
              <a:rPr lang="hu-HU" sz="1200" dirty="0">
                <a:latin typeface="Arial"/>
                <a:ea typeface="Arial"/>
                <a:cs typeface="Arial"/>
                <a:sym typeface="Arial"/>
              </a:rPr>
              <a:t>Egy korábbi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utazás</a:t>
            </a:r>
            <a:r>
              <a:rPr lang="hu-HU" sz="1200" dirty="0">
                <a:latin typeface="Arial"/>
                <a:ea typeface="Arial"/>
                <a:cs typeface="Arial"/>
                <a:sym typeface="Arial"/>
              </a:rPr>
              <a:t> során egy távolabbi úti célra kellett eljutnom  </a:t>
            </a:r>
            <a:endParaRPr lang="en-US" sz="1200" dirty="0">
              <a:latin typeface="Arial"/>
              <a:ea typeface="Arial"/>
              <a:cs typeface="Arial"/>
              <a:sym typeface="Arial"/>
            </a:endParaRPr>
          </a:p>
          <a:p>
            <a:pPr marL="171450" indent="-171450" algn="just">
              <a:spcBef>
                <a:spcPts val="1200"/>
              </a:spcBef>
              <a:buFont typeface="Lato" panose="020F0502020204030203" pitchFamily="34" charset="0"/>
              <a:buChar char="→"/>
            </a:pPr>
            <a:r>
              <a:rPr lang="hu-HU" sz="1200" i="1" dirty="0">
                <a:latin typeface="Arial"/>
                <a:ea typeface="Arial"/>
                <a:cs typeface="Arial"/>
                <a:sym typeface="Arial"/>
              </a:rPr>
              <a:t>Az út több átszállást tartalmazott, különböző szolgáltatók járataival  </a:t>
            </a:r>
            <a:endParaRPr lang="en-US" sz="1200" i="1" dirty="0">
              <a:latin typeface="Arial"/>
              <a:ea typeface="Arial"/>
              <a:cs typeface="Arial"/>
              <a:sym typeface="Arial"/>
            </a:endParaRPr>
          </a:p>
          <a:p>
            <a:pPr marL="171450" indent="-171450" algn="just">
              <a:spcBef>
                <a:spcPts val="1200"/>
              </a:spcBef>
            </a:pPr>
            <a:r>
              <a:rPr lang="hu-HU" sz="1200" b="1" dirty="0">
                <a:latin typeface="Arial"/>
                <a:ea typeface="Arial"/>
                <a:cs typeface="Arial"/>
                <a:sym typeface="Arial"/>
              </a:rPr>
              <a:t>A meglévő menetrend-alkalmazások:</a:t>
            </a:r>
            <a:r>
              <a:rPr lang="en-US" sz="12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hu-HU" sz="1200" dirty="0">
                <a:latin typeface="Arial"/>
                <a:ea typeface="Arial"/>
                <a:cs typeface="Arial"/>
                <a:sym typeface="Arial"/>
              </a:rPr>
              <a:t>nem tudtak időben optimális útvonalat ajánlani  nem vették figyelembe megfelelően az árakat és kedvezményeket  </a:t>
            </a:r>
            <a:endParaRPr lang="en-US" sz="1200" dirty="0">
              <a:latin typeface="Arial"/>
              <a:ea typeface="Arial"/>
              <a:cs typeface="Arial"/>
              <a:sym typeface="Arial"/>
            </a:endParaRPr>
          </a:p>
          <a:p>
            <a:pPr marL="171450" indent="-171450" algn="just">
              <a:spcBef>
                <a:spcPts val="1200"/>
              </a:spcBef>
              <a:buFont typeface="Lato" panose="020F0502020204030203" pitchFamily="34" charset="0"/>
              <a:buChar char="→"/>
            </a:pPr>
            <a:r>
              <a:rPr lang="hu-HU" sz="1200" i="1" dirty="0">
                <a:latin typeface="Arial"/>
                <a:ea typeface="Arial"/>
                <a:cs typeface="Arial"/>
                <a:sym typeface="Arial"/>
              </a:rPr>
              <a:t>Emiatt az utazást kézzel kellett </a:t>
            </a:r>
            <a:r>
              <a:rPr lang="en-US" sz="1200" i="1" dirty="0" err="1">
                <a:latin typeface="Arial"/>
                <a:ea typeface="Arial"/>
                <a:cs typeface="Arial"/>
                <a:sym typeface="Arial"/>
              </a:rPr>
              <a:t>megtervezni</a:t>
            </a:r>
            <a:endParaRPr lang="hu-HU" sz="1400" i="1" noProof="0" dirty="0"/>
          </a:p>
        </p:txBody>
      </p:sp>
      <p:pic>
        <p:nvPicPr>
          <p:cNvPr id="2" name="Google Shape;137;p13">
            <a:extLst>
              <a:ext uri="{FF2B5EF4-FFF2-40B4-BE49-F238E27FC236}">
                <a16:creationId xmlns:a16="http://schemas.microsoft.com/office/drawing/2014/main" id="{5DFBFEBD-33EA-4A17-D11A-C4636B77EA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7762" y="4001275"/>
            <a:ext cx="748475" cy="7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22273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hu-HU" sz="243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Célunk az alkalmazással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lang="hu-HU" sz="3060" noProof="0" dirty="0"/>
          </a:p>
        </p:txBody>
      </p:sp>
      <p:sp>
        <p:nvSpPr>
          <p:cNvPr id="149" name="Google Shape;149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A legjobb alternatívát nyújtani a jelenlegi menetrendkereső alkalmazásokhoz képest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Valós idejű és pontos információ biztosítása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Felhasználóbarát, modern és megbízható megoldás a mindennapi közlekedéshez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Hosszú távon közösségi élménnyé tenni az útvonaltervezést manuális és személyre szabható funkciókkal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hu-HU" noProof="0" dirty="0"/>
          </a:p>
        </p:txBody>
      </p:sp>
      <p:pic>
        <p:nvPicPr>
          <p:cNvPr id="4" name="Picture 2" descr="Goals - Free business icons">
            <a:extLst>
              <a:ext uri="{FF2B5EF4-FFF2-40B4-BE49-F238E27FC236}">
                <a16:creationId xmlns:a16="http://schemas.microsoft.com/office/drawing/2014/main" id="{F3E7A9D3-9187-AED0-19B3-5025E865A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762" y="3989625"/>
            <a:ext cx="748475" cy="7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i="1" u="sng" noProof="0" dirty="0"/>
              <a:t>Az alkalmazásunk főoldala</a:t>
            </a:r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0"/>
            <a:ext cx="9144000" cy="415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ustomize Icons - Free SVG &amp; PNG Customize Images - Noun Project">
            <a:extLst>
              <a:ext uri="{FF2B5EF4-FFF2-40B4-BE49-F238E27FC236}">
                <a16:creationId xmlns:a16="http://schemas.microsoft.com/office/drawing/2014/main" id="{07D27179-6809-0E42-253D-5BA47E71A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591" y="2409005"/>
            <a:ext cx="1072250" cy="107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Base Icons - Free SVG &amp; PNG Base Images - Noun Project">
            <a:extLst>
              <a:ext uri="{FF2B5EF4-FFF2-40B4-BE49-F238E27FC236}">
                <a16:creationId xmlns:a16="http://schemas.microsoft.com/office/drawing/2014/main" id="{647E40C9-9305-C804-B666-FDFC1B256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00" y="199263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hu-HU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Főbb funkciói az alkalmazásnak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hu-HU" noProof="0" dirty="0"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solidFill>
            <a:schemeClr val="tx1"/>
          </a:solidFill>
          <a:effectLst>
            <a:softEdge rad="127000"/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hu-HU" sz="175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Alapfunkciók</a:t>
            </a:r>
          </a:p>
          <a:p>
            <a:pPr marL="457200" lvl="0" indent="-304800" rtl="0">
              <a:spcBef>
                <a:spcPts val="120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Automatikus útvonaltervezés a magyarországi menetrendek alapján</a:t>
            </a:r>
          </a:p>
          <a:p>
            <a: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Valós idejű adatok megjelenítése (indulási és érkezési időpontok)</a:t>
            </a:r>
          </a:p>
          <a:p>
            <a: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Könnyen áttekinthető, felhasználóbarát felület</a:t>
            </a: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lang="hu-HU" noProof="0" dirty="0"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solidFill>
            <a:schemeClr val="tx1"/>
          </a:solidFill>
          <a:effectLst>
            <a:softEdge rad="127000"/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hu-HU" sz="175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Egyedi funkciók</a:t>
            </a:r>
          </a:p>
          <a:p>
            <a:pPr marL="457200" lvl="0" indent="-304800" rtl="0">
              <a:spcBef>
                <a:spcPts val="120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b="1" i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Késések kezelése:</a:t>
            </a:r>
            <a:b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Az alkalmazás figyelembe veszi a járatok valós idejű késéseit, és ennek megfelelően frissíti a találatokat.</a:t>
            </a:r>
          </a:p>
          <a:p>
            <a: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b="1" i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Manuális menetrendtervezés:</a:t>
            </a:r>
            <a:b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Bejelentkezett felhasználók saját menetrendet állíthatnak össze több járat kombinálásával.</a:t>
            </a: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lang="hu-HU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-HU" b="1" noProof="0" dirty="0"/>
              <a:t>Felhasználói élmény / Hogyan használható a </a:t>
            </a:r>
            <a:r>
              <a:rPr lang="hu-HU" b="1" noProof="0" dirty="0" err="1"/>
              <a:t>HovaTovább</a:t>
            </a:r>
            <a:r>
              <a:rPr lang="hu-HU" b="1" noProof="0" dirty="0"/>
              <a:t>?</a:t>
            </a:r>
          </a:p>
        </p:txBody>
      </p:sp>
      <p:sp>
        <p:nvSpPr>
          <p:cNvPr id="194" name="Google Shape;19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908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52"/>
              <a:buFont typeface="Arial"/>
              <a:buChar char="●"/>
            </a:pPr>
            <a:r>
              <a:rPr lang="hu-HU" sz="952" b="1" noProof="0" dirty="0">
                <a:latin typeface="Arial"/>
                <a:ea typeface="Arial"/>
                <a:cs typeface="Arial"/>
                <a:sym typeface="Arial"/>
              </a:rPr>
              <a:t>Egyszerű, letisztult felület</a:t>
            </a:r>
            <a:br>
              <a:rPr lang="hu-HU" sz="952" b="1" noProof="0" dirty="0">
                <a:latin typeface="Arial"/>
                <a:ea typeface="Arial"/>
                <a:cs typeface="Arial"/>
                <a:sym typeface="Arial"/>
              </a:rPr>
            </a:br>
            <a:r>
              <a:rPr lang="hu-HU" sz="952" noProof="0" dirty="0">
                <a:latin typeface="Arial"/>
                <a:ea typeface="Arial"/>
                <a:cs typeface="Arial"/>
                <a:sym typeface="Arial"/>
              </a:rPr>
              <a:t> A weboldal minimalista kialakítású, a felhasználó gyorsan megtalálja az útvonaltervezéshez szükséges mezőket.</a:t>
            </a:r>
            <a:br>
              <a:rPr lang="hu-HU" sz="952" noProof="0" dirty="0">
                <a:latin typeface="Arial"/>
                <a:ea typeface="Arial"/>
                <a:cs typeface="Arial"/>
                <a:sym typeface="Arial"/>
              </a:rPr>
            </a:br>
            <a:endParaRPr lang="hu-HU" sz="952" noProof="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908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52"/>
              <a:buFont typeface="Arial"/>
              <a:buChar char="●"/>
            </a:pPr>
            <a:r>
              <a:rPr lang="hu-HU" sz="952" b="1" noProof="0" dirty="0">
                <a:latin typeface="Arial"/>
                <a:ea typeface="Arial"/>
                <a:cs typeface="Arial"/>
                <a:sym typeface="Arial"/>
              </a:rPr>
              <a:t>Gyors útvonaltervezés</a:t>
            </a:r>
            <a:br>
              <a:rPr lang="hu-HU" sz="952" b="1" noProof="0" dirty="0">
                <a:latin typeface="Arial"/>
                <a:ea typeface="Arial"/>
                <a:cs typeface="Arial"/>
                <a:sym typeface="Arial"/>
              </a:rPr>
            </a:br>
            <a:r>
              <a:rPr lang="hu-HU" sz="952" noProof="0" dirty="0">
                <a:latin typeface="Arial"/>
                <a:ea typeface="Arial"/>
                <a:cs typeface="Arial"/>
                <a:sym typeface="Arial"/>
              </a:rPr>
              <a:t> A felhasználó megadja az indulási és érkezési helyet, majd az alkalmazás menetrend alapján megtervezi az utazást.</a:t>
            </a:r>
            <a:br>
              <a:rPr lang="hu-HU" sz="952" noProof="0" dirty="0">
                <a:latin typeface="Arial"/>
                <a:ea typeface="Arial"/>
                <a:cs typeface="Arial"/>
                <a:sym typeface="Arial"/>
              </a:rPr>
            </a:br>
            <a:endParaRPr lang="hu-HU" sz="952" noProof="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908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52"/>
              <a:buFont typeface="Arial"/>
              <a:buChar char="●"/>
            </a:pPr>
            <a:r>
              <a:rPr lang="hu-HU" sz="952" b="1" noProof="0" dirty="0">
                <a:latin typeface="Arial"/>
                <a:ea typeface="Arial"/>
                <a:cs typeface="Arial"/>
                <a:sym typeface="Arial"/>
              </a:rPr>
              <a:t>Valós közlekedési adatokra épít</a:t>
            </a:r>
            <a:br>
              <a:rPr lang="hu-HU" sz="952" b="1" noProof="0" dirty="0">
                <a:latin typeface="Arial"/>
                <a:ea typeface="Arial"/>
                <a:cs typeface="Arial"/>
                <a:sym typeface="Arial"/>
              </a:rPr>
            </a:br>
            <a:r>
              <a:rPr lang="hu-HU" sz="952" noProof="0" dirty="0">
                <a:latin typeface="Arial"/>
                <a:ea typeface="Arial"/>
                <a:cs typeface="Arial"/>
                <a:sym typeface="Arial"/>
              </a:rPr>
              <a:t> A tervezés tömegközlekedési menetrendek felhasználásával történik, így reális útvonalakat kínál.</a:t>
            </a:r>
            <a:br>
              <a:rPr lang="hu-HU" sz="952" noProof="0" dirty="0">
                <a:latin typeface="Arial"/>
                <a:ea typeface="Arial"/>
                <a:cs typeface="Arial"/>
                <a:sym typeface="Arial"/>
              </a:rPr>
            </a:br>
            <a:endParaRPr lang="hu-HU" sz="952" noProof="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908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52"/>
              <a:buFont typeface="Arial"/>
              <a:buChar char="●"/>
            </a:pPr>
            <a:r>
              <a:rPr lang="hu-HU" sz="952" b="1" noProof="0" dirty="0">
                <a:latin typeface="Arial"/>
                <a:ea typeface="Arial"/>
                <a:cs typeface="Arial"/>
                <a:sym typeface="Arial"/>
              </a:rPr>
              <a:t>Böngészőből elérhető</a:t>
            </a:r>
            <a:br>
              <a:rPr lang="hu-HU" sz="952" b="1" noProof="0" dirty="0">
                <a:latin typeface="Arial"/>
                <a:ea typeface="Arial"/>
                <a:cs typeface="Arial"/>
                <a:sym typeface="Arial"/>
              </a:rPr>
            </a:br>
            <a:r>
              <a:rPr lang="hu-HU" sz="952" noProof="0" dirty="0">
                <a:latin typeface="Arial"/>
                <a:ea typeface="Arial"/>
                <a:cs typeface="Arial"/>
                <a:sym typeface="Arial"/>
              </a:rPr>
              <a:t> Nem szükséges alkalmazást telepíteni, bármilyen modern böngészőből használható (JavaScript engedélyezése szükséges).</a:t>
            </a:r>
            <a:br>
              <a:rPr lang="hu-HU" sz="952" noProof="0" dirty="0">
                <a:latin typeface="Arial"/>
                <a:ea typeface="Arial"/>
                <a:cs typeface="Arial"/>
                <a:sym typeface="Arial"/>
              </a:rPr>
            </a:br>
            <a:endParaRPr lang="hu-HU" sz="952" noProof="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908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52"/>
              <a:buFont typeface="Arial"/>
              <a:buChar char="●"/>
            </a:pPr>
            <a:r>
              <a:rPr lang="hu-HU" sz="952" b="1" noProof="0" dirty="0">
                <a:latin typeface="Arial"/>
                <a:ea typeface="Arial"/>
                <a:cs typeface="Arial"/>
                <a:sym typeface="Arial"/>
              </a:rPr>
              <a:t>Felhasználóbarát megoldás utazóknak</a:t>
            </a:r>
            <a:br>
              <a:rPr lang="hu-HU" sz="952" b="1" noProof="0" dirty="0">
                <a:latin typeface="Arial"/>
                <a:ea typeface="Arial"/>
                <a:cs typeface="Arial"/>
                <a:sym typeface="Arial"/>
              </a:rPr>
            </a:br>
            <a:r>
              <a:rPr lang="hu-HU" sz="952" noProof="0" dirty="0">
                <a:latin typeface="Arial"/>
                <a:ea typeface="Arial"/>
                <a:cs typeface="Arial"/>
                <a:sym typeface="Arial"/>
              </a:rPr>
              <a:t> Különösen hasznos diákoknak, ingázóknak és alkalmi utazóknak, akik gyors megoldást keresnek.</a:t>
            </a:r>
            <a:endParaRPr lang="hu-HU" sz="1107" noProof="0" dirty="0"/>
          </a:p>
        </p:txBody>
      </p:sp>
      <p:pic>
        <p:nvPicPr>
          <p:cNvPr id="2" name="Google Shape;137;p13">
            <a:extLst>
              <a:ext uri="{FF2B5EF4-FFF2-40B4-BE49-F238E27FC236}">
                <a16:creationId xmlns:a16="http://schemas.microsoft.com/office/drawing/2014/main" id="{B93DE867-7D45-7A10-875C-BD69510CC7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7762" y="4001275"/>
            <a:ext cx="748475" cy="7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1556475" y="393750"/>
            <a:ext cx="6031049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hu-HU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Használt technológiák a fejlesztés során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hu-HU" noProof="0" dirty="0"/>
          </a:p>
        </p:txBody>
      </p:sp>
      <p:sp>
        <p:nvSpPr>
          <p:cNvPr id="168" name="Google Shape;168;p18"/>
          <p:cNvSpPr txBox="1">
            <a:spLocks noGrp="1"/>
          </p:cNvSpPr>
          <p:nvPr>
            <p:ph type="body" idx="1"/>
          </p:nvPr>
        </p:nvSpPr>
        <p:spPr>
          <a:xfrm>
            <a:off x="1625700" y="1374450"/>
            <a:ext cx="5892600" cy="1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Frontend: </a:t>
            </a:r>
            <a:r>
              <a:rPr lang="hu-HU" sz="1200" noProof="0" dirty="0" err="1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Angular</a:t>
            </a:r>
            <a:endParaRPr lang="hu-HU" sz="1200" noProof="0" dirty="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Backend:</a:t>
            </a: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 Node.js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Adatbázis:</a:t>
            </a: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hu-HU" sz="1200" noProof="0" dirty="0" err="1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hu-HU" sz="1200" noProof="0" dirty="0" err="1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phpMyAdmin</a:t>
            </a:r>
            <a:endParaRPr lang="hu-HU" sz="1200" noProof="0" dirty="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Verziókezelő: </a:t>
            </a: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Dizájn: </a:t>
            </a:r>
            <a:r>
              <a:rPr lang="hu-HU" sz="1200" noProof="0" dirty="0" err="1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endParaRPr lang="hu-HU" sz="1200" noProof="0" dirty="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hu-HU" sz="1200" b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API-k:</a:t>
            </a:r>
            <a:r>
              <a:rPr lang="hu-HU" sz="1200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 több külső API </a:t>
            </a:r>
            <a:r>
              <a:rPr lang="hu-HU" sz="1200" i="1" noProof="0" dirty="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(menetrendek integrálásához, SQL adatbázis)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hu-HU" noProof="0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118AA3CD-AC85-6FEB-F7EE-926C8617CC3B}"/>
              </a:ext>
            </a:extLst>
          </p:cNvPr>
          <p:cNvGrpSpPr/>
          <p:nvPr/>
        </p:nvGrpSpPr>
        <p:grpSpPr>
          <a:xfrm>
            <a:off x="3348525" y="3407975"/>
            <a:ext cx="2446950" cy="978600"/>
            <a:chOff x="2837445" y="3407975"/>
            <a:chExt cx="2446950" cy="978600"/>
          </a:xfrm>
        </p:grpSpPr>
        <p:sp>
          <p:nvSpPr>
            <p:cNvPr id="169" name="Google Shape;169;p18"/>
            <p:cNvSpPr/>
            <p:nvPr/>
          </p:nvSpPr>
          <p:spPr>
            <a:xfrm>
              <a:off x="2837445" y="3407975"/>
              <a:ext cx="445800" cy="9786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u-HU" noProof="0" dirty="0">
                <a:sym typeface="Lato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3838020" y="3407975"/>
              <a:ext cx="445800" cy="9786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u-HU" noProof="0" dirty="0">
                <a:sym typeface="Lato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4838595" y="3407975"/>
              <a:ext cx="445800" cy="9786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u-HU" noProof="0" dirty="0">
                <a:sym typeface="La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>
            <a:spLocks noGrp="1"/>
          </p:cNvSpPr>
          <p:nvPr>
            <p:ph type="body" idx="1"/>
          </p:nvPr>
        </p:nvSpPr>
        <p:spPr>
          <a:xfrm>
            <a:off x="3373350" y="4729200"/>
            <a:ext cx="23973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i="1" u="sng" noProof="0" dirty="0"/>
              <a:t>Frontend és </a:t>
            </a:r>
            <a:r>
              <a:rPr lang="en-US" i="1" u="sng" noProof="0" dirty="0"/>
              <a:t>b</a:t>
            </a:r>
            <a:r>
              <a:rPr lang="hu-HU" i="1" u="sng" noProof="0" dirty="0" err="1"/>
              <a:t>ackend</a:t>
            </a:r>
            <a:r>
              <a:rPr lang="hu-HU" i="1" u="sng" noProof="0" dirty="0"/>
              <a:t> kódrészlet</a:t>
            </a:r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264700" cy="40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500" y="280825"/>
            <a:ext cx="4422100" cy="38721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B3CBA9DA-801A-EFC1-DDB3-0AE31AF01F35}"/>
              </a:ext>
            </a:extLst>
          </p:cNvPr>
          <p:cNvGrpSpPr/>
          <p:nvPr/>
        </p:nvGrpSpPr>
        <p:grpSpPr>
          <a:xfrm>
            <a:off x="528550" y="4152975"/>
            <a:ext cx="3512400" cy="590800"/>
            <a:chOff x="176150" y="4152963"/>
            <a:chExt cx="3512400" cy="590800"/>
          </a:xfrm>
        </p:grpSpPr>
        <p:sp>
          <p:nvSpPr>
            <p:cNvPr id="179" name="Google Shape;179;p19"/>
            <p:cNvSpPr txBox="1"/>
            <p:nvPr/>
          </p:nvSpPr>
          <p:spPr>
            <a:xfrm>
              <a:off x="1497350" y="4152963"/>
              <a:ext cx="870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3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Frontend</a:t>
              </a: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176150" y="4420663"/>
              <a:ext cx="3512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9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Főoldal kódrészlete és a navigációs panel kódrészlete egyrészben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D712A66F-C9DC-809D-33A7-DBF84B99455B}"/>
              </a:ext>
            </a:extLst>
          </p:cNvPr>
          <p:cNvGrpSpPr/>
          <p:nvPr/>
        </p:nvGrpSpPr>
        <p:grpSpPr>
          <a:xfrm>
            <a:off x="5318050" y="4152975"/>
            <a:ext cx="3099000" cy="590800"/>
            <a:chOff x="5318050" y="4152975"/>
            <a:chExt cx="3099000" cy="590800"/>
          </a:xfrm>
        </p:grpSpPr>
        <p:sp>
          <p:nvSpPr>
            <p:cNvPr id="180" name="Google Shape;180;p19"/>
            <p:cNvSpPr txBox="1"/>
            <p:nvPr/>
          </p:nvSpPr>
          <p:spPr>
            <a:xfrm>
              <a:off x="6432550" y="4152975"/>
              <a:ext cx="870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3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Backend</a:t>
              </a:r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5318050" y="4420675"/>
              <a:ext cx="3099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9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Állomás keresés </a:t>
              </a:r>
              <a:r>
                <a:rPr lang="en-US" sz="90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F</a:t>
              </a:r>
              <a:r>
                <a:rPr lang="hu-HU" sz="900" noProof="0" dirty="0" err="1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etch</a:t>
              </a:r>
              <a:r>
                <a:rPr lang="hu-HU" sz="9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 és </a:t>
              </a:r>
              <a:r>
                <a:rPr lang="en-US" sz="9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REST API-t </a:t>
              </a:r>
              <a:r>
                <a:rPr lang="hu-HU" sz="9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használva, háttérkód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EB2D2CE2-6149-7C16-BF77-D6D0CAF7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052E7897-B56A-A6A5-2E50-783870DEC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73350" y="4729200"/>
            <a:ext cx="23973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u="sng" noProof="0" dirty="0" err="1"/>
              <a:t>Adatbázis</a:t>
            </a:r>
            <a:endParaRPr lang="hu-HU" i="1" u="sng" noProof="0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AFF79D6A-85B3-B4AE-927F-986E19F4762F}"/>
              </a:ext>
            </a:extLst>
          </p:cNvPr>
          <p:cNvGrpSpPr/>
          <p:nvPr/>
        </p:nvGrpSpPr>
        <p:grpSpPr>
          <a:xfrm>
            <a:off x="528550" y="4152975"/>
            <a:ext cx="3512400" cy="590800"/>
            <a:chOff x="176150" y="4152963"/>
            <a:chExt cx="3512400" cy="590800"/>
          </a:xfrm>
        </p:grpSpPr>
        <p:sp>
          <p:nvSpPr>
            <p:cNvPr id="179" name="Google Shape;179;p19">
              <a:extLst>
                <a:ext uri="{FF2B5EF4-FFF2-40B4-BE49-F238E27FC236}">
                  <a16:creationId xmlns:a16="http://schemas.microsoft.com/office/drawing/2014/main" id="{D698783B-423D-B6F1-DFAB-54DFABED88EF}"/>
                </a:ext>
              </a:extLst>
            </p:cNvPr>
            <p:cNvSpPr txBox="1"/>
            <p:nvPr/>
          </p:nvSpPr>
          <p:spPr>
            <a:xfrm>
              <a:off x="1464999" y="4152963"/>
              <a:ext cx="934701" cy="384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3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ER-modell</a:t>
              </a:r>
            </a:p>
          </p:txBody>
        </p:sp>
        <p:sp>
          <p:nvSpPr>
            <p:cNvPr id="181" name="Google Shape;181;p19">
              <a:extLst>
                <a:ext uri="{FF2B5EF4-FFF2-40B4-BE49-F238E27FC236}">
                  <a16:creationId xmlns:a16="http://schemas.microsoft.com/office/drawing/2014/main" id="{180485F7-6BFB-4998-F91A-06D66F168133}"/>
                </a:ext>
              </a:extLst>
            </p:cNvPr>
            <p:cNvSpPr txBox="1"/>
            <p:nvPr/>
          </p:nvSpPr>
          <p:spPr>
            <a:xfrm>
              <a:off x="176150" y="4420663"/>
              <a:ext cx="3512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9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Az adatbázis kapcsolati felépítése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BB81F7D1-A5E8-9A12-8556-DAC57FDB46C4}"/>
              </a:ext>
            </a:extLst>
          </p:cNvPr>
          <p:cNvGrpSpPr/>
          <p:nvPr/>
        </p:nvGrpSpPr>
        <p:grpSpPr>
          <a:xfrm>
            <a:off x="5318050" y="4152975"/>
            <a:ext cx="3099000" cy="590800"/>
            <a:chOff x="5318050" y="4152975"/>
            <a:chExt cx="3099000" cy="590800"/>
          </a:xfrm>
        </p:grpSpPr>
        <p:sp>
          <p:nvSpPr>
            <p:cNvPr id="180" name="Google Shape;180;p19">
              <a:extLst>
                <a:ext uri="{FF2B5EF4-FFF2-40B4-BE49-F238E27FC236}">
                  <a16:creationId xmlns:a16="http://schemas.microsoft.com/office/drawing/2014/main" id="{3FA64296-C543-DDDB-3AC5-D54E8285788F}"/>
                </a:ext>
              </a:extLst>
            </p:cNvPr>
            <p:cNvSpPr txBox="1"/>
            <p:nvPr/>
          </p:nvSpPr>
          <p:spPr>
            <a:xfrm>
              <a:off x="6319658" y="4152975"/>
              <a:ext cx="1095781" cy="384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3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UML-modell</a:t>
              </a:r>
            </a:p>
          </p:txBody>
        </p:sp>
        <p:sp>
          <p:nvSpPr>
            <p:cNvPr id="182" name="Google Shape;182;p19">
              <a:extLst>
                <a:ext uri="{FF2B5EF4-FFF2-40B4-BE49-F238E27FC236}">
                  <a16:creationId xmlns:a16="http://schemas.microsoft.com/office/drawing/2014/main" id="{6EB7DEA0-F0AF-5BF2-BAEE-741ABBEF7216}"/>
                </a:ext>
              </a:extLst>
            </p:cNvPr>
            <p:cNvSpPr txBox="1"/>
            <p:nvPr/>
          </p:nvSpPr>
          <p:spPr>
            <a:xfrm>
              <a:off x="5318050" y="4420675"/>
              <a:ext cx="3099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Az </a:t>
              </a:r>
              <a:r>
                <a:rPr lang="en-US" sz="900" noProof="0" dirty="0" err="1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adatbázis</a:t>
              </a:r>
              <a:r>
                <a:rPr lang="en-US" sz="9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900" noProof="0" dirty="0" err="1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teljes</a:t>
              </a:r>
              <a:r>
                <a:rPr lang="en-US" sz="900" noProof="0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900" noProof="0" dirty="0" err="1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felépítése</a:t>
              </a:r>
              <a:endParaRPr lang="hu-HU" sz="900" noProof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1B78FA-18A7-0534-E1CE-8D4B9943E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97" y="1619369"/>
            <a:ext cx="4315303" cy="2093234"/>
          </a:xfrm>
          <a:prstGeom prst="rect">
            <a:avLst/>
          </a:prstGeom>
          <a:ln w="127000" cap="sq">
            <a:noFill/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3EB0FD6-B737-E2E8-2191-7C90E3D31C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7"/>
          <a:stretch>
            <a:fillRect/>
          </a:stretch>
        </p:blipFill>
        <p:spPr bwMode="auto">
          <a:xfrm>
            <a:off x="4546210" y="1619369"/>
            <a:ext cx="4597790" cy="2093234"/>
          </a:xfrm>
          <a:prstGeom prst="rect">
            <a:avLst/>
          </a:prstGeom>
          <a:ln w="127000" cap="sq">
            <a:noFill/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9007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>
            <a:spLocks noGrp="1"/>
          </p:cNvSpPr>
          <p:nvPr>
            <p:ph type="title"/>
          </p:nvPr>
        </p:nvSpPr>
        <p:spPr>
          <a:xfrm>
            <a:off x="1052550" y="3828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noProof="0" dirty="0"/>
              <a:t>Felhasználói folyamat</a:t>
            </a:r>
          </a:p>
        </p:txBody>
      </p:sp>
      <p:sp>
        <p:nvSpPr>
          <p:cNvPr id="200" name="Google Shape;200;p22"/>
          <p:cNvSpPr txBox="1">
            <a:spLocks noGrp="1"/>
          </p:cNvSpPr>
          <p:nvPr>
            <p:ph type="body" idx="1"/>
          </p:nvPr>
        </p:nvSpPr>
        <p:spPr>
          <a:xfrm>
            <a:off x="927800" y="1135275"/>
            <a:ext cx="7038900" cy="33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hu-HU" noProof="0" dirty="0"/>
              <a:t>Weboldal megnyitása</a:t>
            </a:r>
            <a:br>
              <a:rPr lang="hu-HU" noProof="0" dirty="0"/>
            </a:br>
            <a:endParaRPr lang="hu-HU" noProof="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hu-HU" noProof="0" dirty="0"/>
              <a:t>Indulási hely megadása</a:t>
            </a:r>
            <a:br>
              <a:rPr lang="hu-HU" noProof="0" dirty="0"/>
            </a:br>
            <a:endParaRPr lang="hu-HU" noProof="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hu-HU" noProof="0" dirty="0"/>
              <a:t>Érkezési hely megadása</a:t>
            </a:r>
            <a:br>
              <a:rPr lang="hu-HU" noProof="0" dirty="0"/>
            </a:br>
            <a:endParaRPr lang="hu-HU" noProof="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hu-HU" noProof="0" dirty="0"/>
              <a:t>Útvonal keresése</a:t>
            </a:r>
            <a:br>
              <a:rPr lang="hu-HU" noProof="0" dirty="0"/>
            </a:br>
            <a:endParaRPr lang="hu-HU" noProof="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hu-HU" noProof="0" dirty="0"/>
              <a:t>Javasolt útvonalok megtekintése</a:t>
            </a:r>
            <a:br>
              <a:rPr lang="hu-HU" noProof="0" dirty="0"/>
            </a:br>
            <a:endParaRPr lang="hu-HU" noProof="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hu-HU" noProof="0" dirty="0"/>
              <a:t>Utazás megkezdése</a:t>
            </a:r>
          </a:p>
        </p:txBody>
      </p:sp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29956"/>
            <a:ext cx="4571998" cy="25706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0595A6E5-725C-0DC6-AE90-2FF146FE47C7}"/>
              </a:ext>
            </a:extLst>
          </p:cNvPr>
          <p:cNvCxnSpPr>
            <a:cxnSpLocks/>
          </p:cNvCxnSpPr>
          <p:nvPr/>
        </p:nvCxnSpPr>
        <p:spPr>
          <a:xfrm>
            <a:off x="1148006" y="1508426"/>
            <a:ext cx="289003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Kép 8" descr="A képen képernyőkép, szöveg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4B9BC84-944F-ED4A-4DBA-EDAB92D1F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1429956"/>
            <a:ext cx="4571998" cy="2578269"/>
          </a:xfrm>
          <a:prstGeom prst="rect">
            <a:avLst/>
          </a:prstGeom>
        </p:spPr>
      </p:pic>
      <p:pic>
        <p:nvPicPr>
          <p:cNvPr id="17" name="Kép 16" descr="A képen képernyőkép, szöveg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A839F87-6984-D27E-1796-4982D8F3D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1429956"/>
            <a:ext cx="4572001" cy="2570693"/>
          </a:xfrm>
          <a:prstGeom prst="rect">
            <a:avLst/>
          </a:prstGeom>
        </p:spPr>
      </p:pic>
      <p:cxnSp>
        <p:nvCxnSpPr>
          <p:cNvPr id="30" name="Egyenes összekötő 29">
            <a:extLst>
              <a:ext uri="{FF2B5EF4-FFF2-40B4-BE49-F238E27FC236}">
                <a16:creationId xmlns:a16="http://schemas.microsoft.com/office/drawing/2014/main" id="{FBCF3817-B26C-0747-C95D-E16BDF0B6C3E}"/>
              </a:ext>
            </a:extLst>
          </p:cNvPr>
          <p:cNvCxnSpPr>
            <a:cxnSpLocks/>
          </p:cNvCxnSpPr>
          <p:nvPr/>
        </p:nvCxnSpPr>
        <p:spPr>
          <a:xfrm>
            <a:off x="1148006" y="2074193"/>
            <a:ext cx="289003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Kép 31" descr="A képen képernyőkép, szöveg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73E9D1B-1957-6AD8-CBEE-9C729D4920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8" y="1429956"/>
            <a:ext cx="4572002" cy="2570693"/>
          </a:xfrm>
          <a:prstGeom prst="rect">
            <a:avLst/>
          </a:prstGeom>
        </p:spPr>
      </p:pic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B0708A20-66CA-60B5-D4EA-036EE282784A}"/>
              </a:ext>
            </a:extLst>
          </p:cNvPr>
          <p:cNvCxnSpPr>
            <a:cxnSpLocks/>
          </p:cNvCxnSpPr>
          <p:nvPr/>
        </p:nvCxnSpPr>
        <p:spPr>
          <a:xfrm>
            <a:off x="1148006" y="2619338"/>
            <a:ext cx="289003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Kép 34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34396B1-F538-0D0A-ABF2-C2F0E10A23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97" y="1429956"/>
            <a:ext cx="4563681" cy="2570694"/>
          </a:xfrm>
          <a:prstGeom prst="rect">
            <a:avLst/>
          </a:prstGeom>
        </p:spPr>
      </p:pic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69ADDFEB-BC73-F9C3-7A01-ADBA9F775095}"/>
              </a:ext>
            </a:extLst>
          </p:cNvPr>
          <p:cNvCxnSpPr>
            <a:cxnSpLocks/>
          </p:cNvCxnSpPr>
          <p:nvPr/>
        </p:nvCxnSpPr>
        <p:spPr>
          <a:xfrm>
            <a:off x="1148006" y="3201643"/>
            <a:ext cx="289003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Egyenes összekötő 1053">
            <a:extLst>
              <a:ext uri="{FF2B5EF4-FFF2-40B4-BE49-F238E27FC236}">
                <a16:creationId xmlns:a16="http://schemas.microsoft.com/office/drawing/2014/main" id="{FA2399D2-A17F-416B-2602-13F8206AAC81}"/>
              </a:ext>
            </a:extLst>
          </p:cNvPr>
          <p:cNvCxnSpPr>
            <a:cxnSpLocks/>
          </p:cNvCxnSpPr>
          <p:nvPr/>
        </p:nvCxnSpPr>
        <p:spPr>
          <a:xfrm>
            <a:off x="1154356" y="3743775"/>
            <a:ext cx="289003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Nagy kapacitás – kis fogyasztás; emeletes motorvonatok Magyarországon | MÁV -csoport">
            <a:extLst>
              <a:ext uri="{FF2B5EF4-FFF2-40B4-BE49-F238E27FC236}">
                <a16:creationId xmlns:a16="http://schemas.microsoft.com/office/drawing/2014/main" id="{16CCB6D7-1918-8CA7-38CD-16A21123C6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5422" b="11118"/>
          <a:stretch>
            <a:fillRect/>
          </a:stretch>
        </p:blipFill>
        <p:spPr bwMode="auto">
          <a:xfrm>
            <a:off x="4580317" y="1429955"/>
            <a:ext cx="4563681" cy="2578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3.05556E-6 1.23457E-7 L 1.94444E-6 0.11019 " pathEditMode="fixed" rAng="0" ptsTypes="AA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5494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93827E-6 L 5.55556E-7 0.10555 " pathEditMode="fixed" rAng="0" ptsTypes="AA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534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0.00031 L 1.94444E-6 0.11388 " pathEditMode="fixed" rAng="0" ptsTypes="AA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5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0062 L 0.00035 0.10555 " pathEditMode="fixed" rAng="0" ptsTypes="AA">
                                      <p:cBhvr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5617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0.00032 L 2.77778E-6 0.10526 " pathEditMode="fixed" rAng="0" ptsTypes="AA">
                                      <p:cBhvr>
                                        <p:cTn id="74" dur="5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5247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oviet Union Emblem, USSR Symbol, Icon Free PNG">
            <a:extLst>
              <a:ext uri="{FF2B5EF4-FFF2-40B4-BE49-F238E27FC236}">
                <a16:creationId xmlns:a16="http://schemas.microsoft.com/office/drawing/2014/main" id="{ABBE42F7-1D42-A4FD-793E-D1BD4A229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808" y="224848"/>
            <a:ext cx="4015810" cy="469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" name="Google Shape;206;p23"/>
          <p:cNvSpPr txBox="1">
            <a:spLocks noGrp="1"/>
          </p:cNvSpPr>
          <p:nvPr>
            <p:ph type="title"/>
          </p:nvPr>
        </p:nvSpPr>
        <p:spPr>
          <a:xfrm>
            <a:off x="2810996" y="565170"/>
            <a:ext cx="3522007" cy="7479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noProof="0" dirty="0" err="1"/>
              <a:t>Munkamegosztás</a:t>
            </a:r>
            <a:endParaRPr lang="hu-HU" sz="2800" b="1" noProof="0" dirty="0"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2"/>
          </p:nvPr>
        </p:nvSpPr>
        <p:spPr>
          <a:xfrm>
            <a:off x="2335113" y="2549983"/>
            <a:ext cx="2051532" cy="1252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indent="-28575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</a:pPr>
            <a:r>
              <a:rPr lang="en-US" sz="1202" noProof="0" dirty="0"/>
              <a:t>Backend</a:t>
            </a:r>
          </a:p>
          <a:p>
            <a:pPr marL="742950" indent="-28575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</a:pPr>
            <a:r>
              <a:rPr lang="en-US" sz="1202" dirty="0" err="1"/>
              <a:t>Adatbázis</a:t>
            </a:r>
            <a:endParaRPr lang="hu-HU" sz="1202" noProof="0" dirty="0"/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BCD0FDBD-B2FC-0651-2460-80880859FDA8}"/>
              </a:ext>
            </a:extLst>
          </p:cNvPr>
          <p:cNvGrpSpPr/>
          <p:nvPr/>
        </p:nvGrpSpPr>
        <p:grpSpPr>
          <a:xfrm>
            <a:off x="2705821" y="1924174"/>
            <a:ext cx="3732356" cy="1878665"/>
            <a:chOff x="2971355" y="1827062"/>
            <a:chExt cx="3732356" cy="1878665"/>
          </a:xfrm>
        </p:grpSpPr>
        <p:sp>
          <p:nvSpPr>
            <p:cNvPr id="3" name="Google Shape;207;p23">
              <a:extLst>
                <a:ext uri="{FF2B5EF4-FFF2-40B4-BE49-F238E27FC236}">
                  <a16:creationId xmlns:a16="http://schemas.microsoft.com/office/drawing/2014/main" id="{A893F2E7-79D9-65FD-5F74-FA9581F1A361}"/>
                </a:ext>
              </a:extLst>
            </p:cNvPr>
            <p:cNvSpPr txBox="1">
              <a:spLocks/>
            </p:cNvSpPr>
            <p:nvPr/>
          </p:nvSpPr>
          <p:spPr>
            <a:xfrm>
              <a:off x="4652179" y="2452871"/>
              <a:ext cx="2051532" cy="1252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11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Lato"/>
                <a:buChar char="●"/>
                <a:defRPr sz="13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defRPr>
              </a:lvl1pPr>
              <a:lvl2pPr marL="914400" marR="0" lvl="1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ato"/>
                <a:buChar char="○"/>
                <a:defRPr sz="11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defRPr>
              </a:lvl2pPr>
              <a:lvl3pPr marL="1371600" marR="0" lvl="2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ato"/>
                <a:buChar char="■"/>
                <a:defRPr sz="11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defRPr>
              </a:lvl3pPr>
              <a:lvl4pPr marL="1828800" marR="0" lvl="3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ato"/>
                <a:buChar char="●"/>
                <a:defRPr sz="11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defRPr>
              </a:lvl4pPr>
              <a:lvl5pPr marL="2286000" marR="0" lvl="4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ato"/>
                <a:buChar char="○"/>
                <a:defRPr sz="11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defRPr>
              </a:lvl5pPr>
              <a:lvl6pPr marL="2743200" marR="0" lvl="5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ato"/>
                <a:buChar char="■"/>
                <a:defRPr sz="11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defRPr>
              </a:lvl6pPr>
              <a:lvl7pPr marL="3200400" marR="0" lvl="6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ato"/>
                <a:buChar char="●"/>
                <a:defRPr sz="11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defRPr>
              </a:lvl7pPr>
              <a:lvl8pPr marL="3657600" marR="0" lvl="7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ato"/>
                <a:buChar char="○"/>
                <a:defRPr sz="11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defRPr>
              </a:lvl8pPr>
              <a:lvl9pPr marL="4114800" marR="0" lvl="8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ato"/>
                <a:buChar char="■"/>
                <a:defRPr sz="11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defRPr>
              </a:lvl9pPr>
            </a:lstStyle>
            <a:p>
              <a:pPr marL="742950" indent="-285750">
                <a:lnSpc>
                  <a:spcPct val="95000"/>
                </a:lnSpc>
                <a:spcBef>
                  <a:spcPts val="1200"/>
                </a:spcBef>
                <a:spcAft>
                  <a:spcPts val="1200"/>
                </a:spcAft>
                <a:buSzPts val="1018"/>
              </a:pPr>
              <a:r>
                <a:rPr lang="en-US" sz="1202" dirty="0" err="1"/>
                <a:t>Megjelenés</a:t>
              </a:r>
              <a:endParaRPr lang="en-US" sz="1202" dirty="0"/>
            </a:p>
            <a:p>
              <a:pPr marL="742950" indent="-285750">
                <a:lnSpc>
                  <a:spcPct val="95000"/>
                </a:lnSpc>
                <a:spcBef>
                  <a:spcPts val="1200"/>
                </a:spcBef>
                <a:spcAft>
                  <a:spcPts val="1200"/>
                </a:spcAft>
                <a:buSzPts val="1018"/>
              </a:pPr>
              <a:r>
                <a:rPr lang="en-US" sz="1202" dirty="0"/>
                <a:t>Frontend</a:t>
              </a:r>
              <a:endParaRPr lang="hu-HU" sz="1202" dirty="0"/>
            </a:p>
          </p:txBody>
        </p:sp>
        <p:grpSp>
          <p:nvGrpSpPr>
            <p:cNvPr id="5" name="Csoportba foglalás 4">
              <a:extLst>
                <a:ext uri="{FF2B5EF4-FFF2-40B4-BE49-F238E27FC236}">
                  <a16:creationId xmlns:a16="http://schemas.microsoft.com/office/drawing/2014/main" id="{320A8772-3989-EB40-3BC4-2ADCF1519432}"/>
                </a:ext>
              </a:extLst>
            </p:cNvPr>
            <p:cNvGrpSpPr/>
            <p:nvPr/>
          </p:nvGrpSpPr>
          <p:grpSpPr>
            <a:xfrm>
              <a:off x="2971355" y="1827062"/>
              <a:ext cx="3361648" cy="550182"/>
              <a:chOff x="2971355" y="1827062"/>
              <a:chExt cx="3361648" cy="550182"/>
            </a:xfrm>
          </p:grpSpPr>
          <p:sp>
            <p:nvSpPr>
              <p:cNvPr id="2" name="Google Shape;206;p23">
                <a:extLst>
                  <a:ext uri="{FF2B5EF4-FFF2-40B4-BE49-F238E27FC236}">
                    <a16:creationId xmlns:a16="http://schemas.microsoft.com/office/drawing/2014/main" id="{B555FF13-8FB2-D212-7D30-DBCA785200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71355" y="1827062"/>
                <a:ext cx="1310116" cy="550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algn="ctr"/>
                <a:r>
                  <a:rPr lang="en-US" b="1" dirty="0"/>
                  <a:t>Benji</a:t>
                </a:r>
                <a:endParaRPr lang="hu-HU" sz="2800" b="1" dirty="0"/>
              </a:p>
            </p:txBody>
          </p:sp>
          <p:sp>
            <p:nvSpPr>
              <p:cNvPr id="4" name="Google Shape;206;p23">
                <a:extLst>
                  <a:ext uri="{FF2B5EF4-FFF2-40B4-BE49-F238E27FC236}">
                    <a16:creationId xmlns:a16="http://schemas.microsoft.com/office/drawing/2014/main" id="{C0787328-4A8F-5A04-0617-6978BE47E4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22887" y="1827062"/>
                <a:ext cx="1310116" cy="550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Montserrat"/>
                  <a:buNone/>
                  <a:defRPr sz="2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algn="ctr"/>
                <a:r>
                  <a:rPr lang="en-US" b="1" dirty="0"/>
                  <a:t>Levi</a:t>
                </a:r>
                <a:endParaRPr lang="hu-HU" sz="2800" b="1"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hu-HU" b="1" noProof="0" dirty="0" err="1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Továbbfejleszthetőség</a:t>
            </a:r>
            <a:endParaRPr lang="hu-HU" b="1" noProof="0" dirty="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hu-HU" noProof="0" dirty="0"/>
          </a:p>
        </p:txBody>
      </p:sp>
      <p:sp>
        <p:nvSpPr>
          <p:cNvPr id="188" name="Google Shape;188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hu-HU" sz="1100" b="1" noProof="0" dirty="0">
                <a:latin typeface="Arial"/>
                <a:ea typeface="Arial"/>
                <a:cs typeface="Arial"/>
                <a:sym typeface="Arial"/>
              </a:rPr>
              <a:t>Közösségi funkciók</a:t>
            </a:r>
            <a:r>
              <a:rPr lang="hu-HU" sz="1100" noProof="0" dirty="0">
                <a:latin typeface="Arial"/>
                <a:ea typeface="Arial"/>
                <a:cs typeface="Arial"/>
                <a:sym typeface="Arial"/>
              </a:rPr>
              <a:t> – menetrendek megosztása</a:t>
            </a:r>
            <a:br>
              <a:rPr lang="hu-HU" sz="1100" noProof="0" dirty="0">
                <a:latin typeface="Arial"/>
                <a:ea typeface="Arial"/>
                <a:cs typeface="Arial"/>
                <a:sym typeface="Arial"/>
              </a:rPr>
            </a:br>
            <a:endParaRPr lang="hu-HU" sz="1100" noProof="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hu-HU" sz="1100" b="1" noProof="0" dirty="0">
                <a:latin typeface="Arial"/>
                <a:ea typeface="Arial"/>
                <a:cs typeface="Arial"/>
                <a:sym typeface="Arial"/>
              </a:rPr>
              <a:t>Személyre szabott értesítések</a:t>
            </a:r>
            <a:r>
              <a:rPr lang="hu-HU" sz="1100" noProof="0" dirty="0">
                <a:latin typeface="Arial"/>
                <a:ea typeface="Arial"/>
                <a:cs typeface="Arial"/>
                <a:sym typeface="Arial"/>
              </a:rPr>
              <a:t> – késések, változások</a:t>
            </a:r>
            <a:br>
              <a:rPr lang="hu-HU" sz="1100" noProof="0" dirty="0">
                <a:latin typeface="Arial"/>
                <a:ea typeface="Arial"/>
                <a:cs typeface="Arial"/>
                <a:sym typeface="Arial"/>
              </a:rPr>
            </a:br>
            <a:endParaRPr lang="hu-HU" sz="1100" noProof="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hu-HU" sz="1100" b="1" noProof="0" dirty="0">
                <a:latin typeface="Arial"/>
                <a:ea typeface="Arial"/>
                <a:cs typeface="Arial"/>
                <a:sym typeface="Arial"/>
              </a:rPr>
              <a:t>Alternatív közlekedés</a:t>
            </a:r>
            <a:r>
              <a:rPr lang="hu-HU" sz="1100" noProof="0" dirty="0">
                <a:latin typeface="Arial"/>
                <a:ea typeface="Arial"/>
                <a:cs typeface="Arial"/>
                <a:sym typeface="Arial"/>
              </a:rPr>
              <a:t> – bicikli, roller, gyalog</a:t>
            </a:r>
            <a:br>
              <a:rPr lang="hu-HU" sz="1100" noProof="0" dirty="0">
                <a:latin typeface="Arial"/>
                <a:ea typeface="Arial"/>
                <a:cs typeface="Arial"/>
                <a:sym typeface="Arial"/>
              </a:rPr>
            </a:br>
            <a:endParaRPr lang="hu-HU" sz="1100" noProof="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hu-HU" sz="1100" b="1" noProof="0" dirty="0">
                <a:latin typeface="Arial"/>
                <a:ea typeface="Arial"/>
                <a:cs typeface="Arial"/>
                <a:sym typeface="Arial"/>
              </a:rPr>
              <a:t>Okos útvonalajánlás</a:t>
            </a:r>
            <a:r>
              <a:rPr lang="hu-HU" sz="1100" noProof="0" dirty="0">
                <a:latin typeface="Arial"/>
                <a:ea typeface="Arial"/>
                <a:cs typeface="Arial"/>
                <a:sym typeface="Arial"/>
              </a:rPr>
              <a:t> – felhasználói szokások alapján</a:t>
            </a:r>
            <a:br>
              <a:rPr lang="hu-HU" sz="1100" noProof="0" dirty="0">
                <a:latin typeface="Arial"/>
                <a:ea typeface="Arial"/>
                <a:cs typeface="Arial"/>
                <a:sym typeface="Arial"/>
              </a:rPr>
            </a:br>
            <a:endParaRPr lang="hu-HU" sz="1100" noProof="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hu-HU" sz="1100" b="1" noProof="0" dirty="0">
                <a:latin typeface="Arial"/>
                <a:ea typeface="Arial"/>
                <a:cs typeface="Arial"/>
                <a:sym typeface="Arial"/>
              </a:rPr>
              <a:t>Mobilalkalmazás</a:t>
            </a:r>
            <a:r>
              <a:rPr lang="hu-HU" sz="1100" noProof="0" dirty="0">
                <a:latin typeface="Arial"/>
                <a:ea typeface="Arial"/>
                <a:cs typeface="Arial"/>
                <a:sym typeface="Arial"/>
              </a:rPr>
              <a:t> – Android és iOS verzió</a:t>
            </a:r>
            <a:br>
              <a:rPr lang="hu-HU" sz="1100" noProof="0" dirty="0">
                <a:latin typeface="Arial"/>
                <a:ea typeface="Arial"/>
                <a:cs typeface="Arial"/>
                <a:sym typeface="Arial"/>
              </a:rPr>
            </a:br>
            <a:endParaRPr lang="hu-HU" sz="1100" noProof="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hu-HU" noProof="0" dirty="0"/>
          </a:p>
        </p:txBody>
      </p:sp>
      <p:pic>
        <p:nvPicPr>
          <p:cNvPr id="5122" name="Picture 2" descr="Development - Free miscellaneous icons">
            <a:extLst>
              <a:ext uri="{FF2B5EF4-FFF2-40B4-BE49-F238E27FC236}">
                <a16:creationId xmlns:a16="http://schemas.microsoft.com/office/drawing/2014/main" id="{954DA233-05C0-C6C1-24D7-38D6AA95D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20" y="927735"/>
            <a:ext cx="3288030" cy="328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>
            <a:spLocks noGrp="1"/>
          </p:cNvSpPr>
          <p:nvPr>
            <p:ph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100" noProof="0" dirty="0">
                <a:latin typeface="Lato"/>
                <a:ea typeface="Lato"/>
                <a:cs typeface="Lato"/>
                <a:sym typeface="Lato"/>
              </a:rPr>
              <a:t>Köszönjük a figyelmet!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noProof="0" dirty="0"/>
          </a:p>
        </p:txBody>
      </p:sp>
      <p:pic>
        <p:nvPicPr>
          <p:cNvPr id="2" name="Google Shape;137;p13">
            <a:extLst>
              <a:ext uri="{FF2B5EF4-FFF2-40B4-BE49-F238E27FC236}">
                <a16:creationId xmlns:a16="http://schemas.microsoft.com/office/drawing/2014/main" id="{C662F34B-653C-5642-8C13-72D4317A29F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850" y="2059695"/>
            <a:ext cx="748475" cy="7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524</Words>
  <Application>Microsoft Office PowerPoint</Application>
  <PresentationFormat>Diavetítés a képernyőre (16:9 oldalarány)</PresentationFormat>
  <Paragraphs>81</Paragraphs>
  <Slides>14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8" baseType="lpstr">
      <vt:lpstr>Montserrat</vt:lpstr>
      <vt:lpstr>Arial</vt:lpstr>
      <vt:lpstr>Lato</vt:lpstr>
      <vt:lpstr>Focus</vt:lpstr>
      <vt:lpstr>HovaTovább</vt:lpstr>
      <vt:lpstr>Miről szól az alkalmazás? </vt:lpstr>
      <vt:lpstr>Miért ezt a témakört választottuk?</vt:lpstr>
      <vt:lpstr>Célunk az alkalmazással </vt:lpstr>
      <vt:lpstr>PowerPoint-bemutató</vt:lpstr>
      <vt:lpstr>Főbb funkciói az alkalmazásnak </vt:lpstr>
      <vt:lpstr>Felhasználói élmény / Hogyan használható a HovaTovább?</vt:lpstr>
      <vt:lpstr>Használt technológiák a fejlesztés során </vt:lpstr>
      <vt:lpstr>PowerPoint-bemutató</vt:lpstr>
      <vt:lpstr>PowerPoint-bemutató</vt:lpstr>
      <vt:lpstr>Felhasználói folyamat</vt:lpstr>
      <vt:lpstr>Munkamegosztás</vt:lpstr>
      <vt:lpstr>Továbbfejleszthetőség </vt:lpstr>
      <vt:lpstr>Köszönjük a figyelmet!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benjikeyt@sulid.hu</cp:lastModifiedBy>
  <cp:revision>2</cp:revision>
  <dcterms:modified xsi:type="dcterms:W3CDTF">2026-01-22T19:06:39Z</dcterms:modified>
</cp:coreProperties>
</file>