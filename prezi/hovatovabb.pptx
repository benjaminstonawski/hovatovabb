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embeddedFontLst>
    <p:embeddedFont>
      <p:font typeface="Lato" panose="020F0502020204030203" pitchFamily="34" charset="0"/>
      <p:regular r:id="rId15"/>
      <p:bold r:id="rId16"/>
      <p:italic r:id="rId17"/>
      <p:boldItalic r:id="rId18"/>
    </p:embeddedFont>
    <p:embeddedFont>
      <p:font typeface="Montserrat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636" y="402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b97e70fc58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b97e70fc58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b97e70fc58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b97e70fc58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b97e70fc58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b97e70fc58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b97e70fc58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b97e70fc58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b97e70fc58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b97e70fc58_0_1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b97e70fc58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b97e70fc58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b97e70fc58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b97e70fc58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b9838a5c1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b9838a5c1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b9838a5c1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b9838a5c16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9838a5c1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b9838a5c16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b9838a5c16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b9838a5c16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microsoft.com/office/2007/relationships/hdphoto" Target="../media/hdphoto2.wdp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93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HovaTovább</a:t>
            </a:r>
            <a:endParaRPr dirty="0"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7806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u="sng"/>
              <a:t>Készítette: Deák Levente és Stonawski Benjamin</a:t>
            </a:r>
            <a:endParaRPr u="sng"/>
          </a:p>
        </p:txBody>
      </p:sp>
      <p:sp>
        <p:nvSpPr>
          <p:cNvPr id="136" name="Google Shape;136;p13"/>
          <p:cNvSpPr txBox="1"/>
          <p:nvPr/>
        </p:nvSpPr>
        <p:spPr>
          <a:xfrm>
            <a:off x="3645900" y="2318700"/>
            <a:ext cx="3523200" cy="5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sz="1200" i="1" dirty="0">
                <a:solidFill>
                  <a:srgbClr val="F0F6FC"/>
                </a:solidFill>
              </a:rPr>
              <a:t>Magyar tömegközlekedési menetrendtervező</a:t>
            </a:r>
            <a:endParaRPr sz="1300" i="1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37" name="Google Shape;13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69100" y="1673050"/>
            <a:ext cx="748475" cy="74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hu" sz="2430" b="1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Miről szól az alkalmazás?</a:t>
            </a:r>
            <a:endParaRPr sz="2430" b="1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990"/>
              <a:buNone/>
            </a:pPr>
            <a:endParaRPr sz="3060" b="1"/>
          </a:p>
        </p:txBody>
      </p:sp>
      <p:sp>
        <p:nvSpPr>
          <p:cNvPr id="143" name="Google Shape;143;p14"/>
          <p:cNvSpPr txBox="1">
            <a:spLocks noGrp="1"/>
          </p:cNvSpPr>
          <p:nvPr>
            <p:ph type="body" idx="1"/>
          </p:nvPr>
        </p:nvSpPr>
        <p:spPr>
          <a:xfrm>
            <a:off x="1254000" y="1496750"/>
            <a:ext cx="7038900" cy="29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just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" sz="1200">
                <a:latin typeface="Arial"/>
                <a:ea typeface="Arial"/>
                <a:cs typeface="Arial"/>
                <a:sym typeface="Arial"/>
              </a:rPr>
              <a:t>A HovaTovább egy modern menetrendtervező alkalmazás, amelynek célja, hogy a magyarországi tömegközlekedés használatát gyorsabbá, átláthatóbbá és felhasználóbarátabbá tegye. Az alkalmazás egy helyen teszi elérhetővé a különböző közlekedési eszközök menetrendjeit, így megkönnyíti a mindennapi utazások megtervezését.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" sz="1200">
                <a:latin typeface="Arial"/>
                <a:ea typeface="Arial"/>
                <a:cs typeface="Arial"/>
                <a:sym typeface="Arial"/>
              </a:rPr>
              <a:t>Az app automatikus útvonaltervezést kínál, amely figyelembe veszi az indulási és érkezési helyet, valamint a lehető legoptimálisabb útvonalakat. Emellett lehetőséget biztosít manuális menetrend-összeállításra is, így a felhasználók saját igényeik szerint alakíthatják az utazásukat.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1200"/>
              </a:spcBef>
              <a:spcAft>
                <a:spcPts val="1200"/>
              </a:spcAft>
              <a:buNone/>
            </a:pPr>
            <a:endParaRPr sz="1400"/>
          </a:p>
        </p:txBody>
      </p:sp>
      <p:pic>
        <p:nvPicPr>
          <p:cNvPr id="2" name="Google Shape;137;p13">
            <a:extLst>
              <a:ext uri="{FF2B5EF4-FFF2-40B4-BE49-F238E27FC236}">
                <a16:creationId xmlns:a16="http://schemas.microsoft.com/office/drawing/2014/main" id="{82B1DD43-809D-1BE0-A098-200506FA958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97762" y="4001275"/>
            <a:ext cx="748475" cy="74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hu" sz="2430" b="1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Célunk az alkalmazással</a:t>
            </a:r>
            <a:endParaRPr sz="2430" b="1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990"/>
              <a:buNone/>
            </a:pPr>
            <a:endParaRPr sz="3060"/>
          </a:p>
        </p:txBody>
      </p:sp>
      <p:sp>
        <p:nvSpPr>
          <p:cNvPr id="149" name="Google Shape;149;p1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A legjobb alternatívát nyújtani a jelenlegi menetrendkereső alkalmazásokhoz képest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Valós idejű és pontos információ biztosítása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Felhasználóbarát, modern és megbízható megoldás a mindennapi közlekedéshez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Hosszú távon közösségi élménnyé tenni az útvonaltervezést manuális és személyre szabható funkciókkal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4" name="Picture 2" descr="Goals - Free business icons">
            <a:extLst>
              <a:ext uri="{FF2B5EF4-FFF2-40B4-BE49-F238E27FC236}">
                <a16:creationId xmlns:a16="http://schemas.microsoft.com/office/drawing/2014/main" id="{F3E7A9D3-9187-AED0-19B3-5025E865A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7762" y="3989625"/>
            <a:ext cx="748475" cy="748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i="1" u="sng" dirty="0"/>
              <a:t>Az alkalmazásunk főoldala</a:t>
            </a:r>
            <a:endParaRPr i="1" u="sng" dirty="0"/>
          </a:p>
        </p:txBody>
      </p:sp>
      <p:pic>
        <p:nvPicPr>
          <p:cNvPr id="155" name="Google Shape;15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50"/>
            <a:ext cx="9144000" cy="4152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Picture 4" descr="Customize Icons - Free SVG &amp; PNG Customize Images - Noun Project">
            <a:extLst>
              <a:ext uri="{FF2B5EF4-FFF2-40B4-BE49-F238E27FC236}">
                <a16:creationId xmlns:a16="http://schemas.microsoft.com/office/drawing/2014/main" id="{07D27179-6809-0E42-253D-5BA47E71A7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2591" y="2409005"/>
            <a:ext cx="1072250" cy="107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Base Icons - Free SVG &amp; PNG Base Images - Noun Project">
            <a:extLst>
              <a:ext uri="{FF2B5EF4-FFF2-40B4-BE49-F238E27FC236}">
                <a16:creationId xmlns:a16="http://schemas.microsoft.com/office/drawing/2014/main" id="{647E40C9-9305-C804-B666-FDFC1B256A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300" y="199263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0" name="Google Shape;160;p1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hu" b="1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Főbb funkciói az alkalmazásnak</a:t>
            </a:r>
            <a:endParaRPr b="1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  <a:solidFill>
            <a:schemeClr val="tx1"/>
          </a:solidFill>
          <a:effectLst>
            <a:softEdge rad="127000"/>
          </a:effectLst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just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hu" sz="1750" b="1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Alapfunkciók</a:t>
            </a:r>
            <a:endParaRPr sz="1750" b="1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rtl="0">
              <a:spcBef>
                <a:spcPts val="120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" sz="120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Automatikus útvonaltervezés a magyarországi menetrendek alapján</a:t>
            </a:r>
            <a:endParaRPr sz="1200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rtl="0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" sz="120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Valós idejű adatok megjelenítése (indulási és érkezési időpontok)</a:t>
            </a:r>
            <a:endParaRPr sz="1200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rtl="0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" sz="120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Könnyen áttekinthető, felhasználóbarát felület</a:t>
            </a:r>
            <a:endParaRPr sz="1200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sp>
        <p:nvSpPr>
          <p:cNvPr id="162" name="Google Shape;162;p17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  <a:solidFill>
            <a:schemeClr val="tx1"/>
          </a:solidFill>
          <a:effectLst>
            <a:softEdge rad="127000"/>
          </a:effectLst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just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hu" sz="1750" b="1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Egyedi funkciók</a:t>
            </a:r>
            <a:endParaRPr sz="1750" b="1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rtl="0">
              <a:spcBef>
                <a:spcPts val="120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" sz="1200" b="1" i="1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Késések kezelése:</a:t>
            </a:r>
            <a:br>
              <a:rPr lang="hu" sz="120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hu" sz="120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Az alkalmazás figyelembe veszi a járatok valós idejű késéseit, és ennek megfelelően frissíti a találatokat.</a:t>
            </a:r>
            <a:endParaRPr sz="1200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rtl="0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" sz="1200" b="1" i="1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Manuális menetrendtervezés:</a:t>
            </a:r>
            <a:br>
              <a:rPr lang="hu" sz="120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hu" sz="120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Bejelentkezett felhasználók saját menetrendet állíthatnak össze több járat kombinálásával.</a:t>
            </a:r>
            <a:endParaRPr sz="1200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8"/>
          <p:cNvSpPr txBox="1">
            <a:spLocks noGrp="1"/>
          </p:cNvSpPr>
          <p:nvPr>
            <p:ph type="title"/>
          </p:nvPr>
        </p:nvSpPr>
        <p:spPr>
          <a:xfrm>
            <a:off x="1556475" y="393750"/>
            <a:ext cx="6031049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hu" b="1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Használt technológiák a fejlesztés során</a:t>
            </a:r>
            <a:endParaRPr b="1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8" name="Google Shape;168;p18"/>
          <p:cNvSpPr txBox="1">
            <a:spLocks noGrp="1"/>
          </p:cNvSpPr>
          <p:nvPr>
            <p:ph type="body" idx="1"/>
          </p:nvPr>
        </p:nvSpPr>
        <p:spPr>
          <a:xfrm>
            <a:off x="1625700" y="1374450"/>
            <a:ext cx="5892600" cy="17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" sz="1200" b="1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Frontend: </a:t>
            </a:r>
            <a:r>
              <a:rPr lang="hu" sz="120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Angular</a:t>
            </a:r>
            <a:endParaRPr sz="1200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" sz="1200" b="1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Backend:</a:t>
            </a:r>
            <a:r>
              <a:rPr lang="hu" sz="120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 Node.js</a:t>
            </a:r>
            <a:endParaRPr sz="1200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" sz="1200" b="1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Adatbázis:</a:t>
            </a:r>
            <a:r>
              <a:rPr lang="hu" sz="120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 MySQL</a:t>
            </a:r>
            <a:endParaRPr sz="1200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" sz="1200" b="1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API-k:</a:t>
            </a:r>
            <a:r>
              <a:rPr lang="hu" sz="120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 több külső API </a:t>
            </a:r>
            <a:r>
              <a:rPr lang="hu" sz="1200" i="1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(menetrendek integrálásához, SQL adatbázis)</a:t>
            </a:r>
            <a:endParaRPr sz="1200" i="1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118AA3CD-AC85-6FEB-F7EE-926C8617CC3B}"/>
              </a:ext>
            </a:extLst>
          </p:cNvPr>
          <p:cNvGrpSpPr/>
          <p:nvPr/>
        </p:nvGrpSpPr>
        <p:grpSpPr>
          <a:xfrm>
            <a:off x="3348525" y="3407975"/>
            <a:ext cx="2446950" cy="978600"/>
            <a:chOff x="2837445" y="3407975"/>
            <a:chExt cx="2446950" cy="978600"/>
          </a:xfrm>
        </p:grpSpPr>
        <p:sp>
          <p:nvSpPr>
            <p:cNvPr id="169" name="Google Shape;169;p18"/>
            <p:cNvSpPr/>
            <p:nvPr/>
          </p:nvSpPr>
          <p:spPr>
            <a:xfrm>
              <a:off x="2837445" y="3407975"/>
              <a:ext cx="445800" cy="97860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ym typeface="Lato"/>
              </a:endParaRPr>
            </a:p>
          </p:txBody>
        </p:sp>
        <p:sp>
          <p:nvSpPr>
            <p:cNvPr id="170" name="Google Shape;170;p18"/>
            <p:cNvSpPr/>
            <p:nvPr/>
          </p:nvSpPr>
          <p:spPr>
            <a:xfrm>
              <a:off x="3838020" y="3407975"/>
              <a:ext cx="445800" cy="97860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ym typeface="Lato"/>
              </a:endParaRPr>
            </a:p>
          </p:txBody>
        </p:sp>
        <p:sp>
          <p:nvSpPr>
            <p:cNvPr id="171" name="Google Shape;171;p18"/>
            <p:cNvSpPr/>
            <p:nvPr/>
          </p:nvSpPr>
          <p:spPr>
            <a:xfrm>
              <a:off x="4838595" y="3407975"/>
              <a:ext cx="445800" cy="97860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ym typeface="Lat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9"/>
          <p:cNvSpPr txBox="1">
            <a:spLocks noGrp="1"/>
          </p:cNvSpPr>
          <p:nvPr>
            <p:ph type="body" idx="1"/>
          </p:nvPr>
        </p:nvSpPr>
        <p:spPr>
          <a:xfrm>
            <a:off x="3373350" y="4729200"/>
            <a:ext cx="23973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i="1" u="sng" dirty="0"/>
              <a:t>Frontend és Backend kódrészlet</a:t>
            </a:r>
            <a:endParaRPr i="1" u="sng" dirty="0"/>
          </a:p>
        </p:txBody>
      </p:sp>
      <p:pic>
        <p:nvPicPr>
          <p:cNvPr id="177" name="Google Shape;17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4264700" cy="4000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56500" y="280825"/>
            <a:ext cx="4422100" cy="387214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B3CBA9DA-801A-EFC1-DDB3-0AE31AF01F35}"/>
              </a:ext>
            </a:extLst>
          </p:cNvPr>
          <p:cNvGrpSpPr/>
          <p:nvPr/>
        </p:nvGrpSpPr>
        <p:grpSpPr>
          <a:xfrm>
            <a:off x="528550" y="4152975"/>
            <a:ext cx="3512400" cy="590800"/>
            <a:chOff x="176150" y="4152963"/>
            <a:chExt cx="3512400" cy="590800"/>
          </a:xfrm>
        </p:grpSpPr>
        <p:sp>
          <p:nvSpPr>
            <p:cNvPr id="179" name="Google Shape;179;p19"/>
            <p:cNvSpPr txBox="1"/>
            <p:nvPr/>
          </p:nvSpPr>
          <p:spPr>
            <a:xfrm>
              <a:off x="1497350" y="4152963"/>
              <a:ext cx="8700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" sz="130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Frontend</a:t>
              </a:r>
              <a:endParaRPr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81" name="Google Shape;181;p19"/>
            <p:cNvSpPr txBox="1"/>
            <p:nvPr/>
          </p:nvSpPr>
          <p:spPr>
            <a:xfrm>
              <a:off x="176150" y="4420663"/>
              <a:ext cx="35124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" sz="90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Főoldal kódrészlete és a navigációs panel kódrészlete egyrészben</a:t>
              </a:r>
              <a:endParaRPr sz="9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3" name="Csoportba foglalás 2">
            <a:extLst>
              <a:ext uri="{FF2B5EF4-FFF2-40B4-BE49-F238E27FC236}">
                <a16:creationId xmlns:a16="http://schemas.microsoft.com/office/drawing/2014/main" id="{D712A66F-C9DC-809D-33A7-DBF84B99455B}"/>
              </a:ext>
            </a:extLst>
          </p:cNvPr>
          <p:cNvGrpSpPr/>
          <p:nvPr/>
        </p:nvGrpSpPr>
        <p:grpSpPr>
          <a:xfrm>
            <a:off x="5318050" y="4152975"/>
            <a:ext cx="3099000" cy="590800"/>
            <a:chOff x="5318050" y="4152975"/>
            <a:chExt cx="3099000" cy="590800"/>
          </a:xfrm>
        </p:grpSpPr>
        <p:sp>
          <p:nvSpPr>
            <p:cNvPr id="180" name="Google Shape;180;p19"/>
            <p:cNvSpPr txBox="1"/>
            <p:nvPr/>
          </p:nvSpPr>
          <p:spPr>
            <a:xfrm>
              <a:off x="6432550" y="4152975"/>
              <a:ext cx="8700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" sz="130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Backend</a:t>
              </a:r>
              <a:endParaRPr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82" name="Google Shape;182;p19"/>
            <p:cNvSpPr txBox="1"/>
            <p:nvPr/>
          </p:nvSpPr>
          <p:spPr>
            <a:xfrm>
              <a:off x="5318050" y="4420675"/>
              <a:ext cx="30990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" sz="90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Állomás keresés fetch és rest apit használva, háttér kód</a:t>
              </a:r>
              <a:endParaRPr sz="9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0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hu" b="1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Továbbfejleszthetőség</a:t>
            </a:r>
            <a:endParaRPr b="1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20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hu" sz="1100" b="1" dirty="0">
                <a:latin typeface="Arial"/>
                <a:ea typeface="Arial"/>
                <a:cs typeface="Arial"/>
                <a:sym typeface="Arial"/>
              </a:rPr>
              <a:t>Közösségi funkciók</a:t>
            </a:r>
            <a:r>
              <a:rPr lang="hu" sz="1100" dirty="0">
                <a:latin typeface="Arial"/>
                <a:ea typeface="Arial"/>
                <a:cs typeface="Arial"/>
                <a:sym typeface="Arial"/>
              </a:rPr>
              <a:t> – menetrendek megosztása</a:t>
            </a:r>
            <a:br>
              <a:rPr lang="hu" sz="1100" dirty="0">
                <a:latin typeface="Arial"/>
                <a:ea typeface="Arial"/>
                <a:cs typeface="Arial"/>
                <a:sym typeface="Arial"/>
              </a:rPr>
            </a:b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hu" sz="1100" b="1" dirty="0">
                <a:latin typeface="Arial"/>
                <a:ea typeface="Arial"/>
                <a:cs typeface="Arial"/>
                <a:sym typeface="Arial"/>
              </a:rPr>
              <a:t>Személyre szabott értesítések</a:t>
            </a:r>
            <a:r>
              <a:rPr lang="hu" sz="1100" dirty="0">
                <a:latin typeface="Arial"/>
                <a:ea typeface="Arial"/>
                <a:cs typeface="Arial"/>
                <a:sym typeface="Arial"/>
              </a:rPr>
              <a:t> – késések, változások</a:t>
            </a:r>
            <a:br>
              <a:rPr lang="hu" sz="1100" dirty="0">
                <a:latin typeface="Arial"/>
                <a:ea typeface="Arial"/>
                <a:cs typeface="Arial"/>
                <a:sym typeface="Arial"/>
              </a:rPr>
            </a:b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hu" sz="1100" b="1" dirty="0">
                <a:latin typeface="Arial"/>
                <a:ea typeface="Arial"/>
                <a:cs typeface="Arial"/>
                <a:sym typeface="Arial"/>
              </a:rPr>
              <a:t>Alternatív közlekedés</a:t>
            </a:r>
            <a:r>
              <a:rPr lang="hu" sz="1100" dirty="0">
                <a:latin typeface="Arial"/>
                <a:ea typeface="Arial"/>
                <a:cs typeface="Arial"/>
                <a:sym typeface="Arial"/>
              </a:rPr>
              <a:t> – bicikli, roller, gyalog</a:t>
            </a:r>
            <a:br>
              <a:rPr lang="hu" sz="1100" dirty="0">
                <a:latin typeface="Arial"/>
                <a:ea typeface="Arial"/>
                <a:cs typeface="Arial"/>
                <a:sym typeface="Arial"/>
              </a:rPr>
            </a:b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hu" sz="1100" b="1" dirty="0">
                <a:latin typeface="Arial"/>
                <a:ea typeface="Arial"/>
                <a:cs typeface="Arial"/>
                <a:sym typeface="Arial"/>
              </a:rPr>
              <a:t>Okos útvonalajánlás</a:t>
            </a:r>
            <a:r>
              <a:rPr lang="hu" sz="1100" dirty="0">
                <a:latin typeface="Arial"/>
                <a:ea typeface="Arial"/>
                <a:cs typeface="Arial"/>
                <a:sym typeface="Arial"/>
              </a:rPr>
              <a:t> – felhasználói szokások alapján</a:t>
            </a:r>
            <a:br>
              <a:rPr lang="hu" sz="1100" dirty="0">
                <a:latin typeface="Arial"/>
                <a:ea typeface="Arial"/>
                <a:cs typeface="Arial"/>
                <a:sym typeface="Arial"/>
              </a:rPr>
            </a:b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hu" sz="1100" b="1" dirty="0">
                <a:latin typeface="Arial"/>
                <a:ea typeface="Arial"/>
                <a:cs typeface="Arial"/>
                <a:sym typeface="Arial"/>
              </a:rPr>
              <a:t>Mobilalkalmazás</a:t>
            </a:r>
            <a:r>
              <a:rPr lang="hu" sz="1100" dirty="0">
                <a:latin typeface="Arial"/>
                <a:ea typeface="Arial"/>
                <a:cs typeface="Arial"/>
                <a:sym typeface="Arial"/>
              </a:rPr>
              <a:t> – Android és iOS verzió</a:t>
            </a:r>
            <a:br>
              <a:rPr lang="hu" sz="1100" dirty="0">
                <a:latin typeface="Arial"/>
                <a:ea typeface="Arial"/>
                <a:cs typeface="Arial"/>
                <a:sym typeface="Arial"/>
              </a:rPr>
            </a:b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5122" name="Picture 2" descr="Development - Free miscellaneous icons">
            <a:extLst>
              <a:ext uri="{FF2B5EF4-FFF2-40B4-BE49-F238E27FC236}">
                <a16:creationId xmlns:a16="http://schemas.microsoft.com/office/drawing/2014/main" id="{954DA233-05C0-C6C1-24D7-38D6AA95D8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0220" y="927735"/>
            <a:ext cx="3288030" cy="3288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1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hu" b="1"/>
              <a:t>Felhasználói élmény / Hogyan használható a HovaTovább?</a:t>
            </a:r>
            <a:endParaRPr b="1"/>
          </a:p>
        </p:txBody>
      </p:sp>
      <p:sp>
        <p:nvSpPr>
          <p:cNvPr id="194" name="Google Shape;194;p21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89083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52"/>
              <a:buFont typeface="Arial"/>
              <a:buChar char="●"/>
            </a:pPr>
            <a:r>
              <a:rPr lang="hu" sz="952" b="1" dirty="0">
                <a:latin typeface="Arial"/>
                <a:ea typeface="Arial"/>
                <a:cs typeface="Arial"/>
                <a:sym typeface="Arial"/>
              </a:rPr>
              <a:t>Egyszerű, letisztult felület</a:t>
            </a:r>
            <a:br>
              <a:rPr lang="hu" sz="952" b="1" dirty="0">
                <a:latin typeface="Arial"/>
                <a:ea typeface="Arial"/>
                <a:cs typeface="Arial"/>
                <a:sym typeface="Arial"/>
              </a:rPr>
            </a:br>
            <a:r>
              <a:rPr lang="hu" sz="952" dirty="0">
                <a:latin typeface="Arial"/>
                <a:ea typeface="Arial"/>
                <a:cs typeface="Arial"/>
                <a:sym typeface="Arial"/>
              </a:rPr>
              <a:t> A weboldal minimalista kialakítású, a felhasználó gyorsan megtalálja az útvonaltervezéshez szükséges mezőket.</a:t>
            </a:r>
            <a:br>
              <a:rPr lang="hu" sz="952" dirty="0">
                <a:latin typeface="Arial"/>
                <a:ea typeface="Arial"/>
                <a:cs typeface="Arial"/>
                <a:sym typeface="Arial"/>
              </a:rPr>
            </a:br>
            <a:endParaRPr sz="952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89083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52"/>
              <a:buFont typeface="Arial"/>
              <a:buChar char="●"/>
            </a:pPr>
            <a:r>
              <a:rPr lang="hu" sz="952" b="1" dirty="0">
                <a:latin typeface="Arial"/>
                <a:ea typeface="Arial"/>
                <a:cs typeface="Arial"/>
                <a:sym typeface="Arial"/>
              </a:rPr>
              <a:t>Gyors útvonaltervezés</a:t>
            </a:r>
            <a:br>
              <a:rPr lang="hu" sz="952" b="1" dirty="0">
                <a:latin typeface="Arial"/>
                <a:ea typeface="Arial"/>
                <a:cs typeface="Arial"/>
                <a:sym typeface="Arial"/>
              </a:rPr>
            </a:br>
            <a:r>
              <a:rPr lang="hu" sz="952" dirty="0">
                <a:latin typeface="Arial"/>
                <a:ea typeface="Arial"/>
                <a:cs typeface="Arial"/>
                <a:sym typeface="Arial"/>
              </a:rPr>
              <a:t> A felhasználó megadja az indulási és érkezési helyet, majd az alkalmazás menetrend alapján megtervezi az utazást.</a:t>
            </a:r>
            <a:br>
              <a:rPr lang="hu" sz="952" dirty="0">
                <a:latin typeface="Arial"/>
                <a:ea typeface="Arial"/>
                <a:cs typeface="Arial"/>
                <a:sym typeface="Arial"/>
              </a:rPr>
            </a:br>
            <a:endParaRPr sz="952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89083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52"/>
              <a:buFont typeface="Arial"/>
              <a:buChar char="●"/>
            </a:pPr>
            <a:r>
              <a:rPr lang="hu" sz="952" b="1" dirty="0">
                <a:latin typeface="Arial"/>
                <a:ea typeface="Arial"/>
                <a:cs typeface="Arial"/>
                <a:sym typeface="Arial"/>
              </a:rPr>
              <a:t>Valós közlekedési adatokra épít</a:t>
            </a:r>
            <a:br>
              <a:rPr lang="hu" sz="952" b="1" dirty="0">
                <a:latin typeface="Arial"/>
                <a:ea typeface="Arial"/>
                <a:cs typeface="Arial"/>
                <a:sym typeface="Arial"/>
              </a:rPr>
            </a:br>
            <a:r>
              <a:rPr lang="hu" sz="952" dirty="0">
                <a:latin typeface="Arial"/>
                <a:ea typeface="Arial"/>
                <a:cs typeface="Arial"/>
                <a:sym typeface="Arial"/>
              </a:rPr>
              <a:t> A tervezés tömegközlekedési menetrendek felhasználásával történik, így reális útvonalakat kínál.</a:t>
            </a:r>
            <a:br>
              <a:rPr lang="hu" sz="952" dirty="0">
                <a:latin typeface="Arial"/>
                <a:ea typeface="Arial"/>
                <a:cs typeface="Arial"/>
                <a:sym typeface="Arial"/>
              </a:rPr>
            </a:br>
            <a:endParaRPr sz="952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89083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52"/>
              <a:buFont typeface="Arial"/>
              <a:buChar char="●"/>
            </a:pPr>
            <a:r>
              <a:rPr lang="hu" sz="952" b="1" dirty="0">
                <a:latin typeface="Arial"/>
                <a:ea typeface="Arial"/>
                <a:cs typeface="Arial"/>
                <a:sym typeface="Arial"/>
              </a:rPr>
              <a:t>Böngészőből elérhető</a:t>
            </a:r>
            <a:br>
              <a:rPr lang="hu" sz="952" b="1" dirty="0">
                <a:latin typeface="Arial"/>
                <a:ea typeface="Arial"/>
                <a:cs typeface="Arial"/>
                <a:sym typeface="Arial"/>
              </a:rPr>
            </a:br>
            <a:r>
              <a:rPr lang="hu" sz="952" dirty="0">
                <a:latin typeface="Arial"/>
                <a:ea typeface="Arial"/>
                <a:cs typeface="Arial"/>
                <a:sym typeface="Arial"/>
              </a:rPr>
              <a:t> Nem szükséges alkalmazást telepíteni, bármilyen modern böngészőből használható (JavaScript engedélyezése szükséges).</a:t>
            </a:r>
            <a:br>
              <a:rPr lang="hu" sz="952" dirty="0">
                <a:latin typeface="Arial"/>
                <a:ea typeface="Arial"/>
                <a:cs typeface="Arial"/>
                <a:sym typeface="Arial"/>
              </a:rPr>
            </a:br>
            <a:endParaRPr sz="952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89083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52"/>
              <a:buFont typeface="Arial"/>
              <a:buChar char="●"/>
            </a:pPr>
            <a:r>
              <a:rPr lang="hu" sz="952" b="1" dirty="0">
                <a:latin typeface="Arial"/>
                <a:ea typeface="Arial"/>
                <a:cs typeface="Arial"/>
                <a:sym typeface="Arial"/>
              </a:rPr>
              <a:t>Felhasználóbarát megoldás utazóknak</a:t>
            </a:r>
            <a:br>
              <a:rPr lang="hu" sz="952" b="1" dirty="0">
                <a:latin typeface="Arial"/>
                <a:ea typeface="Arial"/>
                <a:cs typeface="Arial"/>
                <a:sym typeface="Arial"/>
              </a:rPr>
            </a:br>
            <a:r>
              <a:rPr lang="hu" sz="952" dirty="0">
                <a:latin typeface="Arial"/>
                <a:ea typeface="Arial"/>
                <a:cs typeface="Arial"/>
                <a:sym typeface="Arial"/>
              </a:rPr>
              <a:t> Különösen hasznos diákoknak, ingázóknak és alkalmi utazóknak, akik gyors megoldást keresnek.</a:t>
            </a:r>
            <a:endParaRPr sz="1107" dirty="0"/>
          </a:p>
        </p:txBody>
      </p:sp>
      <p:pic>
        <p:nvPicPr>
          <p:cNvPr id="2" name="Google Shape;137;p13">
            <a:extLst>
              <a:ext uri="{FF2B5EF4-FFF2-40B4-BE49-F238E27FC236}">
                <a16:creationId xmlns:a16="http://schemas.microsoft.com/office/drawing/2014/main" id="{B93DE867-7D45-7A10-875C-BD69510CC74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97762" y="4001275"/>
            <a:ext cx="748475" cy="74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2"/>
          <p:cNvSpPr txBox="1">
            <a:spLocks noGrp="1"/>
          </p:cNvSpPr>
          <p:nvPr>
            <p:ph type="title"/>
          </p:nvPr>
        </p:nvSpPr>
        <p:spPr>
          <a:xfrm>
            <a:off x="1052550" y="3828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b="1" dirty="0"/>
              <a:t>Felhasználói folyamat</a:t>
            </a:r>
            <a:endParaRPr b="1" dirty="0"/>
          </a:p>
        </p:txBody>
      </p:sp>
      <p:sp>
        <p:nvSpPr>
          <p:cNvPr id="200" name="Google Shape;200;p22"/>
          <p:cNvSpPr txBox="1">
            <a:spLocks noGrp="1"/>
          </p:cNvSpPr>
          <p:nvPr>
            <p:ph type="body" idx="1"/>
          </p:nvPr>
        </p:nvSpPr>
        <p:spPr>
          <a:xfrm>
            <a:off x="927800" y="1135275"/>
            <a:ext cx="7038900" cy="334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hu" dirty="0"/>
              <a:t>Weboldal megnyitása</a:t>
            </a:r>
            <a:br>
              <a:rPr lang="hu" dirty="0"/>
            </a:br>
            <a:endParaRPr dirty="0"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hu" dirty="0"/>
              <a:t>Indulási hely megadása</a:t>
            </a:r>
            <a:br>
              <a:rPr lang="hu" dirty="0"/>
            </a:br>
            <a:endParaRPr dirty="0"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hu" dirty="0"/>
              <a:t>Érkezési hely megadása</a:t>
            </a:r>
            <a:br>
              <a:rPr lang="hu" dirty="0"/>
            </a:br>
            <a:endParaRPr dirty="0"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hu" dirty="0"/>
              <a:t>Útvonal keresése</a:t>
            </a:r>
            <a:br>
              <a:rPr lang="hu" dirty="0"/>
            </a:br>
            <a:endParaRPr dirty="0"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hu" dirty="0"/>
              <a:t>Javasolt útvonalok megtekintése</a:t>
            </a:r>
            <a:br>
              <a:rPr lang="hu" dirty="0"/>
            </a:br>
            <a:endParaRPr dirty="0"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hu" dirty="0"/>
              <a:t>Utazás megkezdése</a:t>
            </a:r>
            <a:endParaRPr dirty="0"/>
          </a:p>
        </p:txBody>
      </p:sp>
      <p:pic>
        <p:nvPicPr>
          <p:cNvPr id="201" name="Google Shape;20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1429956"/>
            <a:ext cx="4571998" cy="257069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" name="Egyenes összekötő 2">
            <a:extLst>
              <a:ext uri="{FF2B5EF4-FFF2-40B4-BE49-F238E27FC236}">
                <a16:creationId xmlns:a16="http://schemas.microsoft.com/office/drawing/2014/main" id="{0595A6E5-725C-0DC6-AE90-2FF146FE47C7}"/>
              </a:ext>
            </a:extLst>
          </p:cNvPr>
          <p:cNvCxnSpPr>
            <a:cxnSpLocks/>
          </p:cNvCxnSpPr>
          <p:nvPr/>
        </p:nvCxnSpPr>
        <p:spPr>
          <a:xfrm>
            <a:off x="1148006" y="1508426"/>
            <a:ext cx="2890038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Kép 8" descr="A képen képernyőkép, szöveg, szoftver, Multimédiás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4B9BC84-944F-ED4A-4DBA-EDAB92D1F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1" y="1429956"/>
            <a:ext cx="4571998" cy="2578269"/>
          </a:xfrm>
          <a:prstGeom prst="rect">
            <a:avLst/>
          </a:prstGeom>
        </p:spPr>
      </p:pic>
      <p:pic>
        <p:nvPicPr>
          <p:cNvPr id="17" name="Kép 16" descr="A képen képernyőkép, szöveg, szoftver, Multimédiás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A839F87-6984-D27E-1796-4982D8F3D7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9" y="1429956"/>
            <a:ext cx="4572001" cy="2570693"/>
          </a:xfrm>
          <a:prstGeom prst="rect">
            <a:avLst/>
          </a:prstGeom>
        </p:spPr>
      </p:pic>
      <p:cxnSp>
        <p:nvCxnSpPr>
          <p:cNvPr id="30" name="Egyenes összekötő 29">
            <a:extLst>
              <a:ext uri="{FF2B5EF4-FFF2-40B4-BE49-F238E27FC236}">
                <a16:creationId xmlns:a16="http://schemas.microsoft.com/office/drawing/2014/main" id="{FBCF3817-B26C-0747-C95D-E16BDF0B6C3E}"/>
              </a:ext>
            </a:extLst>
          </p:cNvPr>
          <p:cNvCxnSpPr>
            <a:cxnSpLocks/>
          </p:cNvCxnSpPr>
          <p:nvPr/>
        </p:nvCxnSpPr>
        <p:spPr>
          <a:xfrm>
            <a:off x="1148006" y="2074193"/>
            <a:ext cx="2890038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Kép 31" descr="A képen képernyőkép, szöveg, szoftver, Multimédiás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273E9D1B-1957-6AD8-CBEE-9C729D4920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98" y="1429956"/>
            <a:ext cx="4572002" cy="2570693"/>
          </a:xfrm>
          <a:prstGeom prst="rect">
            <a:avLst/>
          </a:prstGeom>
        </p:spPr>
      </p:pic>
      <p:cxnSp>
        <p:nvCxnSpPr>
          <p:cNvPr id="33" name="Egyenes összekötő 32">
            <a:extLst>
              <a:ext uri="{FF2B5EF4-FFF2-40B4-BE49-F238E27FC236}">
                <a16:creationId xmlns:a16="http://schemas.microsoft.com/office/drawing/2014/main" id="{B0708A20-66CA-60B5-D4EA-036EE282784A}"/>
              </a:ext>
            </a:extLst>
          </p:cNvPr>
          <p:cNvCxnSpPr>
            <a:cxnSpLocks/>
          </p:cNvCxnSpPr>
          <p:nvPr/>
        </p:nvCxnSpPr>
        <p:spPr>
          <a:xfrm>
            <a:off x="1148006" y="2619338"/>
            <a:ext cx="2890038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Kép 34" descr="A képen szöveg, képernyőkép, szoftver, Multimédiás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34396B1-F538-0D0A-ABF2-C2F0E10A23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1997" y="1429956"/>
            <a:ext cx="4563681" cy="2570694"/>
          </a:xfrm>
          <a:prstGeom prst="rect">
            <a:avLst/>
          </a:prstGeom>
        </p:spPr>
      </p:pic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69ADDFEB-BC73-F9C3-7A01-ADBA9F775095}"/>
              </a:ext>
            </a:extLst>
          </p:cNvPr>
          <p:cNvCxnSpPr>
            <a:cxnSpLocks/>
          </p:cNvCxnSpPr>
          <p:nvPr/>
        </p:nvCxnSpPr>
        <p:spPr>
          <a:xfrm>
            <a:off x="1148006" y="3201643"/>
            <a:ext cx="2890038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Kép 56" descr="A képen rajz, clipart, festmény, kerék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CC1935D-AB78-89FC-DEA5-955A494DEA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1996" y="1429956"/>
            <a:ext cx="4563682" cy="2570694"/>
          </a:xfrm>
          <a:prstGeom prst="rect">
            <a:avLst/>
          </a:prstGeom>
        </p:spPr>
      </p:pic>
      <p:cxnSp>
        <p:nvCxnSpPr>
          <p:cNvPr id="1054" name="Egyenes összekötő 1053">
            <a:extLst>
              <a:ext uri="{FF2B5EF4-FFF2-40B4-BE49-F238E27FC236}">
                <a16:creationId xmlns:a16="http://schemas.microsoft.com/office/drawing/2014/main" id="{FA2399D2-A17F-416B-2602-13F8206AAC81}"/>
              </a:ext>
            </a:extLst>
          </p:cNvPr>
          <p:cNvCxnSpPr>
            <a:cxnSpLocks/>
          </p:cNvCxnSpPr>
          <p:nvPr/>
        </p:nvCxnSpPr>
        <p:spPr>
          <a:xfrm>
            <a:off x="1154356" y="3743775"/>
            <a:ext cx="2890038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2" fill="hold" nodeType="click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3.05556E-6 1.23457E-7 L 1.94444E-6 0.11019 " pathEditMode="fixed" rAng="0" ptsTypes="AA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9" y="5494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05556E-6 4.93827E-6 L 5.55556E-7 0.10555 " pathEditMode="fixed" rAng="0" ptsTypes="AA">
                                      <p:cBhvr>
                                        <p:cTn id="3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9" y="5340"/>
                                    </p:animMotion>
                                  </p:childTnLst>
                                </p:cTn>
                              </p:par>
                              <p:par>
                                <p:cTn id="32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05556E-6 -0.00031 L 1.94444E-6 0.11388 " pathEditMode="fixed" rAng="0" ptsTypes="AA">
                                      <p:cBhvr>
                                        <p:cTn id="4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9" y="567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1" presetClass="exit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05556E-6 0.00062 L 0.00035 0.10555 " pathEditMode="fixed" rAng="0" ptsTypes="AA">
                                      <p:cBhvr>
                                        <p:cTn id="6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5617"/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34 0.00032 L 2.77778E-6 0.10526 " pathEditMode="fixed" rAng="0" ptsTypes="AA">
                                      <p:cBhvr>
                                        <p:cTn id="74" dur="500" fill="hold"/>
                                        <p:tgtEl>
                                          <p:spTgt spid="10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" y="5247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3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sz="2800" b="1"/>
              <a:t>Korlátok és nehézségek</a:t>
            </a:r>
            <a:endParaRPr sz="2800" b="1"/>
          </a:p>
        </p:txBody>
      </p:sp>
      <p:sp>
        <p:nvSpPr>
          <p:cNvPr id="207" name="Google Shape;207;p23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958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03"/>
              <a:buChar char="●"/>
            </a:pPr>
            <a:r>
              <a:rPr lang="hu" sz="1202" dirty="0"/>
              <a:t>Internetkapcsolat nélkül nem használható</a:t>
            </a:r>
            <a:br>
              <a:rPr lang="hu" sz="1202" dirty="0"/>
            </a:br>
            <a:endParaRPr sz="1202" dirty="0"/>
          </a:p>
          <a:p>
            <a:pPr marL="457200" lvl="0" indent="-304958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03"/>
              <a:buChar char="●"/>
            </a:pPr>
            <a:r>
              <a:rPr lang="hu" sz="1202" dirty="0"/>
              <a:t>JavaScript szükséges a működéshez</a:t>
            </a:r>
            <a:br>
              <a:rPr lang="hu" sz="1202" dirty="0"/>
            </a:br>
            <a:endParaRPr sz="1202" dirty="0"/>
          </a:p>
          <a:p>
            <a:pPr marL="457200" lvl="0" indent="-304958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03"/>
              <a:buChar char="●"/>
            </a:pPr>
            <a:r>
              <a:rPr lang="hu" sz="1202" dirty="0"/>
              <a:t>Nem helyettesíti a valós idejű forgalmi adatokat</a:t>
            </a:r>
            <a:br>
              <a:rPr lang="hu" sz="1202" dirty="0"/>
            </a:br>
            <a:endParaRPr sz="1202" dirty="0"/>
          </a:p>
          <a:p>
            <a:pPr marL="457200" lvl="0" indent="-304958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03"/>
              <a:buChar char="●"/>
            </a:pPr>
            <a:r>
              <a:rPr lang="hu" sz="1202" dirty="0"/>
              <a:t>Hibás menetrend esetén pontatlan lehet</a:t>
            </a:r>
            <a:br>
              <a:rPr lang="hu" sz="1202" dirty="0"/>
            </a:br>
            <a:endParaRPr sz="1202" dirty="0"/>
          </a:p>
          <a:p>
            <a:pPr marL="457200" lvl="0" indent="-304958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03"/>
              <a:buChar char="●"/>
            </a:pPr>
            <a:r>
              <a:rPr lang="hu" sz="1202" dirty="0"/>
              <a:t>Fejlesztés alatt álló funkciók előfordulhatnak</a:t>
            </a:r>
            <a:endParaRPr sz="1202" dirty="0"/>
          </a:p>
          <a:p>
            <a:pPr marL="457200" lvl="0" indent="0" algn="just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endParaRPr sz="1202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4"/>
          <p:cNvSpPr txBox="1">
            <a:spLocks noGrp="1"/>
          </p:cNvSpPr>
          <p:nvPr>
            <p:ph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sz="3100" dirty="0">
                <a:latin typeface="Lato"/>
                <a:ea typeface="Lato"/>
                <a:cs typeface="Lato"/>
                <a:sym typeface="Lato"/>
              </a:rPr>
              <a:t>Köszönjük a figyelmet!</a:t>
            </a:r>
            <a:endParaRPr sz="3100" dirty="0"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2" name="Google Shape;137;p13">
            <a:extLst>
              <a:ext uri="{FF2B5EF4-FFF2-40B4-BE49-F238E27FC236}">
                <a16:creationId xmlns:a16="http://schemas.microsoft.com/office/drawing/2014/main" id="{C662F34B-653C-5642-8C13-72D4317A29F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3850" y="2059695"/>
            <a:ext cx="748475" cy="74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457</Words>
  <Application>Microsoft Office PowerPoint</Application>
  <PresentationFormat>Diavetítés a képernyőre (16:9 oldalarány)</PresentationFormat>
  <Paragraphs>56</Paragraphs>
  <Slides>12</Slides>
  <Notes>12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6" baseType="lpstr">
      <vt:lpstr>Arial</vt:lpstr>
      <vt:lpstr>Lato</vt:lpstr>
      <vt:lpstr>Montserrat</vt:lpstr>
      <vt:lpstr>Focus</vt:lpstr>
      <vt:lpstr>HovaTovább</vt:lpstr>
      <vt:lpstr>Miről szól az alkalmazás? </vt:lpstr>
      <vt:lpstr>Célunk az alkalmazással </vt:lpstr>
      <vt:lpstr>PowerPoint-bemutató</vt:lpstr>
      <vt:lpstr>Főbb funkciói az alkalmazásnak </vt:lpstr>
      <vt:lpstr>Használt technológiák a fejlesztés során </vt:lpstr>
      <vt:lpstr>PowerPoint-bemutató</vt:lpstr>
      <vt:lpstr>Továbbfejleszthetőség </vt:lpstr>
      <vt:lpstr>Felhasználói élmény / Hogyan használható a HovaTovább?</vt:lpstr>
      <vt:lpstr>Felhasználói folyamat</vt:lpstr>
      <vt:lpstr>Korlátok és nehézségek</vt:lpstr>
      <vt:lpstr>Köszönjük a figyelmet!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benjikeyt@sulid.hu</cp:lastModifiedBy>
  <cp:revision>1</cp:revision>
  <dcterms:modified xsi:type="dcterms:W3CDTF">2026-01-21T19:37:14Z</dcterms:modified>
</cp:coreProperties>
</file>